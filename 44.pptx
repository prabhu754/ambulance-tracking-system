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1"/>
  </p:notesMasterIdLst>
  <p:handoutMasterIdLst>
    <p:handoutMasterId r:id="rId22"/>
  </p:handoutMasterIdLst>
  <p:sldIdLst>
    <p:sldId id="256" r:id="rId2"/>
    <p:sldId id="257" r:id="rId3"/>
    <p:sldId id="258" r:id="rId4"/>
    <p:sldId id="285" r:id="rId5"/>
    <p:sldId id="261" r:id="rId6"/>
    <p:sldId id="262" r:id="rId7"/>
    <p:sldId id="268" r:id="rId8"/>
    <p:sldId id="289" r:id="rId9"/>
    <p:sldId id="288" r:id="rId10"/>
    <p:sldId id="286" r:id="rId11"/>
    <p:sldId id="287" r:id="rId12"/>
    <p:sldId id="279" r:id="rId13"/>
    <p:sldId id="269" r:id="rId14"/>
    <p:sldId id="283" r:id="rId15"/>
    <p:sldId id="281" r:id="rId16"/>
    <p:sldId id="290" r:id="rId17"/>
    <p:sldId id="284" r:id="rId18"/>
    <p:sldId id="265" r:id="rId19"/>
    <p:sldId id="266" r:id="rId20"/>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936417-0571-46F2-9FBC-C158E455E678}" v="1" dt="2025-07-03T04:15:32.9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561" autoAdjust="0"/>
    <p:restoredTop sz="94508"/>
  </p:normalViewPr>
  <p:slideViewPr>
    <p:cSldViewPr snapToGrid="0">
      <p:cViewPr varScale="1">
        <p:scale>
          <a:sx n="78" d="100"/>
          <a:sy n="78" d="100"/>
        </p:scale>
        <p:origin x="442"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D658E2C-4649-44DA-94C1-04F267F3CF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IN"/>
          </a:p>
        </p:txBody>
      </p:sp>
      <p:sp>
        <p:nvSpPr>
          <p:cNvPr id="3" name="Date Placeholder 2">
            <a:extLst>
              <a:ext uri="{FF2B5EF4-FFF2-40B4-BE49-F238E27FC236}">
                <a16:creationId xmlns:a16="http://schemas.microsoft.com/office/drawing/2014/main" id="{A0DB7DE3-ECF5-4C7A-8F5E-3EA1E35478F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4FC2DC7-50FA-8346-AB17-1EC948D38D49}" type="datetimeFigureOut">
              <a:rPr lang="en-IN"/>
              <a:pPr>
                <a:defRPr/>
              </a:pPr>
              <a:t>03-07-2025</a:t>
            </a:fld>
            <a:endParaRPr lang="en-IN"/>
          </a:p>
        </p:txBody>
      </p:sp>
      <p:sp>
        <p:nvSpPr>
          <p:cNvPr id="4" name="Footer Placeholder 3">
            <a:extLst>
              <a:ext uri="{FF2B5EF4-FFF2-40B4-BE49-F238E27FC236}">
                <a16:creationId xmlns:a16="http://schemas.microsoft.com/office/drawing/2014/main" id="{EEBA8B8D-3406-4B1A-95B5-D7D9E67C655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r>
              <a:rPr lang="en-IN"/>
              <a:t>Dept. of CSE, GAT                                           2017-18</a:t>
            </a:r>
          </a:p>
        </p:txBody>
      </p:sp>
      <p:sp>
        <p:nvSpPr>
          <p:cNvPr id="5" name="Slide Number Placeholder 4">
            <a:extLst>
              <a:ext uri="{FF2B5EF4-FFF2-40B4-BE49-F238E27FC236}">
                <a16:creationId xmlns:a16="http://schemas.microsoft.com/office/drawing/2014/main" id="{41D8401D-4DA3-47AE-8334-EDDCF49491CF}"/>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fld id="{BA9A15E7-0A42-764E-BF19-1A2B185C507B}" type="slidenum">
              <a:rPr lang="en-IN" altLang="en-US"/>
              <a:pPr/>
              <a:t>‹#›</a:t>
            </a:fld>
            <a:endParaRPr lang="en-I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65BD3D8-ABFE-46E9-B416-B2B6D66ED3F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IN"/>
          </a:p>
        </p:txBody>
      </p:sp>
      <p:sp>
        <p:nvSpPr>
          <p:cNvPr id="3" name="Date Placeholder 2">
            <a:extLst>
              <a:ext uri="{FF2B5EF4-FFF2-40B4-BE49-F238E27FC236}">
                <a16:creationId xmlns:a16="http://schemas.microsoft.com/office/drawing/2014/main" id="{BB81FB6B-818B-439F-AA9D-F4A4C51D9CB7}"/>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DE1394BC-6B69-424E-A133-C8A7E37B265E}" type="datetimeFigureOut">
              <a:rPr lang="en-IN"/>
              <a:pPr>
                <a:defRPr/>
              </a:pPr>
              <a:t>03-07-2025</a:t>
            </a:fld>
            <a:endParaRPr lang="en-IN"/>
          </a:p>
        </p:txBody>
      </p:sp>
      <p:sp>
        <p:nvSpPr>
          <p:cNvPr id="4" name="Slide Image Placeholder 3">
            <a:extLst>
              <a:ext uri="{FF2B5EF4-FFF2-40B4-BE49-F238E27FC236}">
                <a16:creationId xmlns:a16="http://schemas.microsoft.com/office/drawing/2014/main" id="{13B9B77C-9113-4E6B-BC26-A76A14DCFA9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a:extLst>
              <a:ext uri="{FF2B5EF4-FFF2-40B4-BE49-F238E27FC236}">
                <a16:creationId xmlns:a16="http://schemas.microsoft.com/office/drawing/2014/main" id="{C807DB35-67A4-4B1B-A560-6A01BC5C211A}"/>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a:extLst>
              <a:ext uri="{FF2B5EF4-FFF2-40B4-BE49-F238E27FC236}">
                <a16:creationId xmlns:a16="http://schemas.microsoft.com/office/drawing/2014/main" id="{5FD0BFDF-1B36-40DC-B782-279FFBBF56A2}"/>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r>
              <a:rPr lang="en-IN"/>
              <a:t>Dept. of CSE, GAT                                           2017-18</a:t>
            </a:r>
          </a:p>
        </p:txBody>
      </p:sp>
      <p:sp>
        <p:nvSpPr>
          <p:cNvPr id="7" name="Slide Number Placeholder 6">
            <a:extLst>
              <a:ext uri="{FF2B5EF4-FFF2-40B4-BE49-F238E27FC236}">
                <a16:creationId xmlns:a16="http://schemas.microsoft.com/office/drawing/2014/main" id="{E3C06572-CE2A-4A31-AE1D-CC249A717B51}"/>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fld id="{9E0C12A5-9FE8-7B4E-9B0A-DEAFD62903EF}" type="slidenum">
              <a:rPr lang="en-IN" altLang="en-US"/>
              <a:pPr/>
              <a:t>‹#›</a:t>
            </a:fld>
            <a:endParaRPr lang="en-IN" altLang="en-US"/>
          </a:p>
        </p:txBody>
      </p:sp>
    </p:spTree>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a:extLst>
              <a:ext uri="{FF2B5EF4-FFF2-40B4-BE49-F238E27FC236}">
                <a16:creationId xmlns:a16="http://schemas.microsoft.com/office/drawing/2014/main" id="{0B496ACD-03A8-255F-F9CC-2A53E4501F0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1" name="Notes Placeholder 2">
            <a:extLst>
              <a:ext uri="{FF2B5EF4-FFF2-40B4-BE49-F238E27FC236}">
                <a16:creationId xmlns:a16="http://schemas.microsoft.com/office/drawing/2014/main" id="{2024A85A-C304-3FF1-55FC-BA9561A4F7E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
        <p:nvSpPr>
          <p:cNvPr id="7172" name="Slide Number Placeholder 3">
            <a:extLst>
              <a:ext uri="{FF2B5EF4-FFF2-40B4-BE49-F238E27FC236}">
                <a16:creationId xmlns:a16="http://schemas.microsoft.com/office/drawing/2014/main" id="{E4E83693-73E3-ABAA-139C-0DFBC4DF909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8937041-6621-AB48-95C4-40665FBB68E5}" type="slidenum">
              <a:rPr lang="en-IN" altLang="en-US">
                <a:latin typeface="Calibri" panose="020F0502020204030204" pitchFamily="34" charset="0"/>
              </a:rPr>
              <a:pPr/>
              <a:t>1</a:t>
            </a:fld>
            <a:endParaRPr lang="en-IN" altLang="en-US">
              <a:latin typeface="Calibri" panose="020F0502020204030204" pitchFamily="34" charset="0"/>
            </a:endParaRPr>
          </a:p>
        </p:txBody>
      </p:sp>
      <p:sp>
        <p:nvSpPr>
          <p:cNvPr id="7173" name="Footer Placeholder 4">
            <a:extLst>
              <a:ext uri="{FF2B5EF4-FFF2-40B4-BE49-F238E27FC236}">
                <a16:creationId xmlns:a16="http://schemas.microsoft.com/office/drawing/2014/main" id="{D4919B5E-5C6B-A9DD-3824-DAB515B211E1}"/>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IN" altLang="en-US">
                <a:latin typeface="Calibri" panose="020F0502020204030204" pitchFamily="34" charset="0"/>
              </a:rPr>
              <a:t>Dept. of CSE, GAT                                           2017-18</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55EC863F-66DB-86C5-7E4F-2E323CDC033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a:extLst>
              <a:ext uri="{FF2B5EF4-FFF2-40B4-BE49-F238E27FC236}">
                <a16:creationId xmlns:a16="http://schemas.microsoft.com/office/drawing/2014/main" id="{29056E1C-EC9A-7EF3-F2F0-7C61CF43FD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
        <p:nvSpPr>
          <p:cNvPr id="9220" name="Slide Number Placeholder 3">
            <a:extLst>
              <a:ext uri="{FF2B5EF4-FFF2-40B4-BE49-F238E27FC236}">
                <a16:creationId xmlns:a16="http://schemas.microsoft.com/office/drawing/2014/main" id="{ADFCF690-D30D-1765-85C0-E319D2BC84B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1CE37C4-BB62-934C-B7DE-C880674EB961}" type="slidenum">
              <a:rPr lang="en-IN" altLang="en-US">
                <a:latin typeface="Calibri" panose="020F0502020204030204" pitchFamily="34" charset="0"/>
              </a:rPr>
              <a:pPr/>
              <a:t>2</a:t>
            </a:fld>
            <a:endParaRPr lang="en-IN" altLang="en-US">
              <a:latin typeface="Calibri" panose="020F0502020204030204" pitchFamily="34" charset="0"/>
            </a:endParaRPr>
          </a:p>
        </p:txBody>
      </p:sp>
      <p:sp>
        <p:nvSpPr>
          <p:cNvPr id="9221" name="Footer Placeholder 4">
            <a:extLst>
              <a:ext uri="{FF2B5EF4-FFF2-40B4-BE49-F238E27FC236}">
                <a16:creationId xmlns:a16="http://schemas.microsoft.com/office/drawing/2014/main" id="{AE0A449D-0A84-919E-587D-CD63C152B898}"/>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IN" altLang="en-US">
                <a:latin typeface="Calibri" panose="020F0502020204030204" pitchFamily="34" charset="0"/>
              </a:rPr>
              <a:t>Dept. of CSE, GAT                                           2017-18</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Tree>
    <p:extLst>
      <p:ext uri="{BB962C8B-B14F-4D97-AF65-F5344CB8AC3E}">
        <p14:creationId xmlns:p14="http://schemas.microsoft.com/office/powerpoint/2010/main" val="4186655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4">
            <a:extLst>
              <a:ext uri="{FF2B5EF4-FFF2-40B4-BE49-F238E27FC236}">
                <a16:creationId xmlns:a16="http://schemas.microsoft.com/office/drawing/2014/main" id="{195617B5-A743-738A-63DE-257F40F5BED1}"/>
              </a:ext>
            </a:extLst>
          </p:cNvPr>
          <p:cNvSpPr>
            <a:spLocks noGrp="1"/>
          </p:cNvSpPr>
          <p:nvPr>
            <p:ph type="ftr" sz="quarter" idx="10"/>
          </p:nvPr>
        </p:nvSpPr>
        <p:spPr/>
        <p:txBody>
          <a:bodyPr/>
          <a:lstStyle>
            <a:lvl1pPr>
              <a:defRPr/>
            </a:lvl1pPr>
          </a:lstStyle>
          <a:p>
            <a:pPr>
              <a:defRPr/>
            </a:pPr>
            <a:r>
              <a:rPr lang="en-US"/>
              <a:t>Dept of CSE,GAT                                                                                                    2024-25                                                                                                                                                                        </a:t>
            </a:r>
            <a:endParaRPr lang="en-IN"/>
          </a:p>
        </p:txBody>
      </p:sp>
      <p:sp>
        <p:nvSpPr>
          <p:cNvPr id="5" name="Slide Number Placeholder 5">
            <a:extLst>
              <a:ext uri="{FF2B5EF4-FFF2-40B4-BE49-F238E27FC236}">
                <a16:creationId xmlns:a16="http://schemas.microsoft.com/office/drawing/2014/main" id="{8537988C-7640-C8C4-A8B6-1966E59553E5}"/>
              </a:ext>
            </a:extLst>
          </p:cNvPr>
          <p:cNvSpPr>
            <a:spLocks noGrp="1"/>
          </p:cNvSpPr>
          <p:nvPr>
            <p:ph type="sldNum" sz="quarter" idx="11"/>
          </p:nvPr>
        </p:nvSpPr>
        <p:spPr/>
        <p:txBody>
          <a:bodyPr/>
          <a:lstStyle>
            <a:lvl1pPr>
              <a:defRPr/>
            </a:lvl1pPr>
          </a:lstStyle>
          <a:p>
            <a:fld id="{DADD5AE8-CA1C-EC4A-A984-685A7D930774}" type="slidenum">
              <a:rPr lang="en-IN" altLang="en-US"/>
              <a:pPr/>
              <a:t>‹#›</a:t>
            </a:fld>
            <a:endParaRPr lang="en-IN" altLang="en-US"/>
          </a:p>
        </p:txBody>
      </p:sp>
    </p:spTree>
    <p:extLst>
      <p:ext uri="{BB962C8B-B14F-4D97-AF65-F5344CB8AC3E}">
        <p14:creationId xmlns:p14="http://schemas.microsoft.com/office/powerpoint/2010/main" val="1771753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5344E3-1BED-BF46-B998-BB06860E1DC8}"/>
              </a:ext>
            </a:extLst>
          </p:cNvPr>
          <p:cNvSpPr>
            <a:spLocks noGrp="1"/>
          </p:cNvSpPr>
          <p:nvPr>
            <p:ph type="dt" sz="half" idx="10"/>
          </p:nvPr>
        </p:nvSpPr>
        <p:spPr/>
        <p:txBody>
          <a:bodyPr/>
          <a:lstStyle>
            <a:lvl1pPr>
              <a:defRPr/>
            </a:lvl1pPr>
          </a:lstStyle>
          <a:p>
            <a:pPr>
              <a:defRPr/>
            </a:pPr>
            <a:endParaRPr lang="en-IN"/>
          </a:p>
        </p:txBody>
      </p:sp>
      <p:sp>
        <p:nvSpPr>
          <p:cNvPr id="5" name="Footer Placeholder 4">
            <a:extLst>
              <a:ext uri="{FF2B5EF4-FFF2-40B4-BE49-F238E27FC236}">
                <a16:creationId xmlns:a16="http://schemas.microsoft.com/office/drawing/2014/main" id="{C3A284B3-A87C-6357-E661-3868D885D1BB}"/>
              </a:ext>
            </a:extLst>
          </p:cNvPr>
          <p:cNvSpPr>
            <a:spLocks noGrp="1"/>
          </p:cNvSpPr>
          <p:nvPr>
            <p:ph type="ftr" sz="quarter" idx="11"/>
          </p:nvPr>
        </p:nvSpPr>
        <p:spPr/>
        <p:txBody>
          <a:bodyPr/>
          <a:lstStyle>
            <a:lvl1pPr>
              <a:defRPr/>
            </a:lvl1pPr>
          </a:lstStyle>
          <a:p>
            <a:pPr>
              <a:defRPr/>
            </a:pPr>
            <a:r>
              <a:rPr lang="en-US"/>
              <a:t>Dept of CSE,GAT                                                                                                    2024-25                                                                                                                                                                        </a:t>
            </a:r>
            <a:endParaRPr lang="en-IN"/>
          </a:p>
        </p:txBody>
      </p:sp>
      <p:sp>
        <p:nvSpPr>
          <p:cNvPr id="6" name="Slide Number Placeholder 5">
            <a:extLst>
              <a:ext uri="{FF2B5EF4-FFF2-40B4-BE49-F238E27FC236}">
                <a16:creationId xmlns:a16="http://schemas.microsoft.com/office/drawing/2014/main" id="{C99E03A1-99A0-BD4F-5544-908EEAEABE3D}"/>
              </a:ext>
            </a:extLst>
          </p:cNvPr>
          <p:cNvSpPr>
            <a:spLocks noGrp="1"/>
          </p:cNvSpPr>
          <p:nvPr>
            <p:ph type="sldNum" sz="quarter" idx="12"/>
          </p:nvPr>
        </p:nvSpPr>
        <p:spPr/>
        <p:txBody>
          <a:bodyPr/>
          <a:lstStyle>
            <a:lvl1pPr>
              <a:defRPr/>
            </a:lvl1pPr>
          </a:lstStyle>
          <a:p>
            <a:fld id="{05BB1AFA-3921-A14F-9332-B4636A8A6625}" type="slidenum">
              <a:rPr lang="en-IN" altLang="en-US"/>
              <a:pPr/>
              <a:t>‹#›</a:t>
            </a:fld>
            <a:endParaRPr lang="en-IN" altLang="en-US"/>
          </a:p>
        </p:txBody>
      </p:sp>
    </p:spTree>
    <p:extLst>
      <p:ext uri="{BB962C8B-B14F-4D97-AF65-F5344CB8AC3E}">
        <p14:creationId xmlns:p14="http://schemas.microsoft.com/office/powerpoint/2010/main" val="3819988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a:extLst>
              <a:ext uri="{FF2B5EF4-FFF2-40B4-BE49-F238E27FC236}">
                <a16:creationId xmlns:a16="http://schemas.microsoft.com/office/drawing/2014/main" id="{2C05B957-F222-4D9C-84DF-A5E2134993CD}"/>
              </a:ext>
            </a:extLst>
          </p:cNvPr>
          <p:cNvSpPr>
            <a:spLocks noGrp="1"/>
          </p:cNvSpPr>
          <p:nvPr>
            <p:ph type="dt" sz="half" idx="10"/>
          </p:nvPr>
        </p:nvSpPr>
        <p:spPr/>
        <p:txBody>
          <a:bodyPr/>
          <a:lstStyle>
            <a:lvl1pPr>
              <a:defRPr/>
            </a:lvl1pPr>
          </a:lstStyle>
          <a:p>
            <a:pPr>
              <a:defRPr/>
            </a:pPr>
            <a:endParaRPr lang="en-IN"/>
          </a:p>
        </p:txBody>
      </p:sp>
      <p:sp>
        <p:nvSpPr>
          <p:cNvPr id="6" name="Footer Placeholder 4">
            <a:extLst>
              <a:ext uri="{FF2B5EF4-FFF2-40B4-BE49-F238E27FC236}">
                <a16:creationId xmlns:a16="http://schemas.microsoft.com/office/drawing/2014/main" id="{0906734F-A439-D5D8-10B3-50B602DE4011}"/>
              </a:ext>
            </a:extLst>
          </p:cNvPr>
          <p:cNvSpPr>
            <a:spLocks noGrp="1"/>
          </p:cNvSpPr>
          <p:nvPr>
            <p:ph type="ftr" sz="quarter" idx="11"/>
          </p:nvPr>
        </p:nvSpPr>
        <p:spPr/>
        <p:txBody>
          <a:bodyPr/>
          <a:lstStyle>
            <a:lvl1pPr>
              <a:defRPr/>
            </a:lvl1pPr>
          </a:lstStyle>
          <a:p>
            <a:pPr>
              <a:defRPr/>
            </a:pPr>
            <a:r>
              <a:rPr lang="en-US"/>
              <a:t>Dept of CSE,GAT                                                                                                    2024-25                                                                                                                                                                        </a:t>
            </a:r>
            <a:endParaRPr lang="en-IN"/>
          </a:p>
        </p:txBody>
      </p:sp>
      <p:sp>
        <p:nvSpPr>
          <p:cNvPr id="7" name="Slide Number Placeholder 5">
            <a:extLst>
              <a:ext uri="{FF2B5EF4-FFF2-40B4-BE49-F238E27FC236}">
                <a16:creationId xmlns:a16="http://schemas.microsoft.com/office/drawing/2014/main" id="{966F8258-961D-97C2-C676-A0FBDB17D5D2}"/>
              </a:ext>
            </a:extLst>
          </p:cNvPr>
          <p:cNvSpPr>
            <a:spLocks noGrp="1"/>
          </p:cNvSpPr>
          <p:nvPr>
            <p:ph type="sldNum" sz="quarter" idx="12"/>
          </p:nvPr>
        </p:nvSpPr>
        <p:spPr/>
        <p:txBody>
          <a:bodyPr/>
          <a:lstStyle>
            <a:lvl1pPr>
              <a:defRPr/>
            </a:lvl1pPr>
          </a:lstStyle>
          <a:p>
            <a:fld id="{C401E5F6-314E-8E4A-AAC1-79A213F50D6B}" type="slidenum">
              <a:rPr lang="en-IN" altLang="en-US"/>
              <a:pPr/>
              <a:t>‹#›</a:t>
            </a:fld>
            <a:endParaRPr lang="en-IN" altLang="en-US"/>
          </a:p>
        </p:txBody>
      </p:sp>
    </p:spTree>
    <p:extLst>
      <p:ext uri="{BB962C8B-B14F-4D97-AF65-F5344CB8AC3E}">
        <p14:creationId xmlns:p14="http://schemas.microsoft.com/office/powerpoint/2010/main" val="1460857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a:extLst>
              <a:ext uri="{FF2B5EF4-FFF2-40B4-BE49-F238E27FC236}">
                <a16:creationId xmlns:a16="http://schemas.microsoft.com/office/drawing/2014/main" id="{3260CD03-306F-E4A7-BEBE-0BC56FF4F7E6}"/>
              </a:ext>
            </a:extLst>
          </p:cNvPr>
          <p:cNvSpPr>
            <a:spLocks noGrp="1"/>
          </p:cNvSpPr>
          <p:nvPr>
            <p:ph type="dt" sz="half" idx="10"/>
          </p:nvPr>
        </p:nvSpPr>
        <p:spPr/>
        <p:txBody>
          <a:bodyPr/>
          <a:lstStyle>
            <a:lvl1pPr>
              <a:defRPr/>
            </a:lvl1pPr>
          </a:lstStyle>
          <a:p>
            <a:pPr>
              <a:defRPr/>
            </a:pPr>
            <a:endParaRPr lang="en-IN"/>
          </a:p>
        </p:txBody>
      </p:sp>
      <p:sp>
        <p:nvSpPr>
          <p:cNvPr id="8" name="Footer Placeholder 4">
            <a:extLst>
              <a:ext uri="{FF2B5EF4-FFF2-40B4-BE49-F238E27FC236}">
                <a16:creationId xmlns:a16="http://schemas.microsoft.com/office/drawing/2014/main" id="{5A1873A8-7721-6550-0128-1B0A2A0E6E31}"/>
              </a:ext>
            </a:extLst>
          </p:cNvPr>
          <p:cNvSpPr>
            <a:spLocks noGrp="1"/>
          </p:cNvSpPr>
          <p:nvPr>
            <p:ph type="ftr" sz="quarter" idx="11"/>
          </p:nvPr>
        </p:nvSpPr>
        <p:spPr/>
        <p:txBody>
          <a:bodyPr/>
          <a:lstStyle>
            <a:lvl1pPr>
              <a:defRPr/>
            </a:lvl1pPr>
          </a:lstStyle>
          <a:p>
            <a:pPr>
              <a:defRPr/>
            </a:pPr>
            <a:r>
              <a:rPr lang="en-US"/>
              <a:t>Dept of CSE,GAT                                                                                                    2024-25                                                                                                                                                                        </a:t>
            </a:r>
            <a:endParaRPr lang="en-IN"/>
          </a:p>
        </p:txBody>
      </p:sp>
      <p:sp>
        <p:nvSpPr>
          <p:cNvPr id="9" name="Slide Number Placeholder 5">
            <a:extLst>
              <a:ext uri="{FF2B5EF4-FFF2-40B4-BE49-F238E27FC236}">
                <a16:creationId xmlns:a16="http://schemas.microsoft.com/office/drawing/2014/main" id="{6C4A9D4B-DD6B-F752-D630-21317ED34A0B}"/>
              </a:ext>
            </a:extLst>
          </p:cNvPr>
          <p:cNvSpPr>
            <a:spLocks noGrp="1"/>
          </p:cNvSpPr>
          <p:nvPr>
            <p:ph type="sldNum" sz="quarter" idx="12"/>
          </p:nvPr>
        </p:nvSpPr>
        <p:spPr/>
        <p:txBody>
          <a:bodyPr/>
          <a:lstStyle>
            <a:lvl1pPr>
              <a:defRPr/>
            </a:lvl1pPr>
          </a:lstStyle>
          <a:p>
            <a:fld id="{F42BF033-C8B0-3D46-AC29-BA3D9E3148B0}" type="slidenum">
              <a:rPr lang="en-IN" altLang="en-US"/>
              <a:pPr/>
              <a:t>‹#›</a:t>
            </a:fld>
            <a:endParaRPr lang="en-IN" altLang="en-US"/>
          </a:p>
        </p:txBody>
      </p:sp>
    </p:spTree>
    <p:extLst>
      <p:ext uri="{BB962C8B-B14F-4D97-AF65-F5344CB8AC3E}">
        <p14:creationId xmlns:p14="http://schemas.microsoft.com/office/powerpoint/2010/main" val="2734727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a:extLst>
              <a:ext uri="{FF2B5EF4-FFF2-40B4-BE49-F238E27FC236}">
                <a16:creationId xmlns:a16="http://schemas.microsoft.com/office/drawing/2014/main" id="{70DBBA94-2531-75AE-3D26-F83095914BAD}"/>
              </a:ext>
            </a:extLst>
          </p:cNvPr>
          <p:cNvSpPr>
            <a:spLocks noGrp="1"/>
          </p:cNvSpPr>
          <p:nvPr>
            <p:ph type="dt" sz="half" idx="10"/>
          </p:nvPr>
        </p:nvSpPr>
        <p:spPr/>
        <p:txBody>
          <a:bodyPr/>
          <a:lstStyle>
            <a:lvl1pPr>
              <a:defRPr/>
            </a:lvl1pPr>
          </a:lstStyle>
          <a:p>
            <a:pPr>
              <a:defRPr/>
            </a:pPr>
            <a:endParaRPr lang="en-IN"/>
          </a:p>
        </p:txBody>
      </p:sp>
      <p:sp>
        <p:nvSpPr>
          <p:cNvPr id="4" name="Footer Placeholder 4">
            <a:extLst>
              <a:ext uri="{FF2B5EF4-FFF2-40B4-BE49-F238E27FC236}">
                <a16:creationId xmlns:a16="http://schemas.microsoft.com/office/drawing/2014/main" id="{5F769D1F-FEF5-974E-B45C-867985ECB161}"/>
              </a:ext>
            </a:extLst>
          </p:cNvPr>
          <p:cNvSpPr>
            <a:spLocks noGrp="1"/>
          </p:cNvSpPr>
          <p:nvPr>
            <p:ph type="ftr" sz="quarter" idx="11"/>
          </p:nvPr>
        </p:nvSpPr>
        <p:spPr/>
        <p:txBody>
          <a:bodyPr/>
          <a:lstStyle>
            <a:lvl1pPr>
              <a:defRPr/>
            </a:lvl1pPr>
          </a:lstStyle>
          <a:p>
            <a:pPr>
              <a:defRPr/>
            </a:pPr>
            <a:r>
              <a:rPr lang="en-US"/>
              <a:t>Dept of CSE,GAT                                                                                                    2024-25                                                                                                                                                                        </a:t>
            </a:r>
            <a:endParaRPr lang="en-IN"/>
          </a:p>
        </p:txBody>
      </p:sp>
      <p:sp>
        <p:nvSpPr>
          <p:cNvPr id="5" name="Slide Number Placeholder 5">
            <a:extLst>
              <a:ext uri="{FF2B5EF4-FFF2-40B4-BE49-F238E27FC236}">
                <a16:creationId xmlns:a16="http://schemas.microsoft.com/office/drawing/2014/main" id="{D8A1604F-114D-F707-E230-F0408941A70C}"/>
              </a:ext>
            </a:extLst>
          </p:cNvPr>
          <p:cNvSpPr>
            <a:spLocks noGrp="1"/>
          </p:cNvSpPr>
          <p:nvPr>
            <p:ph type="sldNum" sz="quarter" idx="12"/>
          </p:nvPr>
        </p:nvSpPr>
        <p:spPr/>
        <p:txBody>
          <a:bodyPr/>
          <a:lstStyle>
            <a:lvl1pPr>
              <a:defRPr/>
            </a:lvl1pPr>
          </a:lstStyle>
          <a:p>
            <a:fld id="{3E9C9097-BD41-D04C-A153-88D3A29D4B86}" type="slidenum">
              <a:rPr lang="en-IN" altLang="en-US"/>
              <a:pPr/>
              <a:t>‹#›</a:t>
            </a:fld>
            <a:endParaRPr lang="en-IN" altLang="en-US"/>
          </a:p>
        </p:txBody>
      </p:sp>
    </p:spTree>
    <p:extLst>
      <p:ext uri="{BB962C8B-B14F-4D97-AF65-F5344CB8AC3E}">
        <p14:creationId xmlns:p14="http://schemas.microsoft.com/office/powerpoint/2010/main" val="1375814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3155C357-87DD-436A-B90D-C12662947466}"/>
              </a:ext>
            </a:extLst>
          </p:cNvPr>
          <p:cNvSpPr>
            <a:spLocks noGrp="1"/>
          </p:cNvSpPr>
          <p:nvPr>
            <p:ph type="dt" sz="half" idx="10"/>
          </p:nvPr>
        </p:nvSpPr>
        <p:spPr/>
        <p:txBody>
          <a:bodyPr/>
          <a:lstStyle>
            <a:lvl1pPr>
              <a:defRPr/>
            </a:lvl1pPr>
          </a:lstStyle>
          <a:p>
            <a:pPr>
              <a:defRPr/>
            </a:pPr>
            <a:endParaRPr lang="en-IN"/>
          </a:p>
        </p:txBody>
      </p:sp>
      <p:sp>
        <p:nvSpPr>
          <p:cNvPr id="3" name="Footer Placeholder 4">
            <a:extLst>
              <a:ext uri="{FF2B5EF4-FFF2-40B4-BE49-F238E27FC236}">
                <a16:creationId xmlns:a16="http://schemas.microsoft.com/office/drawing/2014/main" id="{18513410-0123-AA50-8BA4-BE64527BD1E2}"/>
              </a:ext>
            </a:extLst>
          </p:cNvPr>
          <p:cNvSpPr>
            <a:spLocks noGrp="1"/>
          </p:cNvSpPr>
          <p:nvPr>
            <p:ph type="ftr" sz="quarter" idx="11"/>
          </p:nvPr>
        </p:nvSpPr>
        <p:spPr/>
        <p:txBody>
          <a:bodyPr/>
          <a:lstStyle>
            <a:lvl1pPr>
              <a:defRPr/>
            </a:lvl1pPr>
          </a:lstStyle>
          <a:p>
            <a:pPr>
              <a:defRPr/>
            </a:pPr>
            <a:r>
              <a:rPr lang="en-US"/>
              <a:t>Dept of CSE,GAT                                                                                                    2024-25                                                                                                                                                                        </a:t>
            </a:r>
            <a:endParaRPr lang="en-IN"/>
          </a:p>
        </p:txBody>
      </p:sp>
      <p:sp>
        <p:nvSpPr>
          <p:cNvPr id="4" name="Slide Number Placeholder 5">
            <a:extLst>
              <a:ext uri="{FF2B5EF4-FFF2-40B4-BE49-F238E27FC236}">
                <a16:creationId xmlns:a16="http://schemas.microsoft.com/office/drawing/2014/main" id="{23DA2A93-08F0-B1F1-171B-46E0EEDE4A9C}"/>
              </a:ext>
            </a:extLst>
          </p:cNvPr>
          <p:cNvSpPr>
            <a:spLocks noGrp="1"/>
          </p:cNvSpPr>
          <p:nvPr>
            <p:ph type="sldNum" sz="quarter" idx="12"/>
          </p:nvPr>
        </p:nvSpPr>
        <p:spPr/>
        <p:txBody>
          <a:bodyPr/>
          <a:lstStyle>
            <a:lvl1pPr>
              <a:defRPr/>
            </a:lvl1pPr>
          </a:lstStyle>
          <a:p>
            <a:fld id="{E9FCF3DC-7123-424E-AB42-804134FB2CDB}" type="slidenum">
              <a:rPr lang="en-IN" altLang="en-US"/>
              <a:pPr/>
              <a:t>‹#›</a:t>
            </a:fld>
            <a:endParaRPr lang="en-IN" altLang="en-US"/>
          </a:p>
        </p:txBody>
      </p:sp>
    </p:spTree>
    <p:extLst>
      <p:ext uri="{BB962C8B-B14F-4D97-AF65-F5344CB8AC3E}">
        <p14:creationId xmlns:p14="http://schemas.microsoft.com/office/powerpoint/2010/main" val="2991321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0E076C9E-7296-AD07-C3A1-3FD2016E16FE}"/>
              </a:ext>
            </a:extLst>
          </p:cNvPr>
          <p:cNvSpPr>
            <a:spLocks noGrp="1"/>
          </p:cNvSpPr>
          <p:nvPr>
            <p:ph type="dt" sz="half" idx="10"/>
          </p:nvPr>
        </p:nvSpPr>
        <p:spPr/>
        <p:txBody>
          <a:bodyPr/>
          <a:lstStyle>
            <a:lvl1pPr>
              <a:defRPr/>
            </a:lvl1pPr>
          </a:lstStyle>
          <a:p>
            <a:pPr>
              <a:defRPr/>
            </a:pPr>
            <a:endParaRPr lang="en-IN"/>
          </a:p>
        </p:txBody>
      </p:sp>
      <p:sp>
        <p:nvSpPr>
          <p:cNvPr id="6" name="Footer Placeholder 4">
            <a:extLst>
              <a:ext uri="{FF2B5EF4-FFF2-40B4-BE49-F238E27FC236}">
                <a16:creationId xmlns:a16="http://schemas.microsoft.com/office/drawing/2014/main" id="{B0AFFC64-B72C-2DF5-4FF8-B2B53771F638}"/>
              </a:ext>
            </a:extLst>
          </p:cNvPr>
          <p:cNvSpPr>
            <a:spLocks noGrp="1"/>
          </p:cNvSpPr>
          <p:nvPr>
            <p:ph type="ftr" sz="quarter" idx="11"/>
          </p:nvPr>
        </p:nvSpPr>
        <p:spPr/>
        <p:txBody>
          <a:bodyPr/>
          <a:lstStyle>
            <a:lvl1pPr>
              <a:defRPr/>
            </a:lvl1pPr>
          </a:lstStyle>
          <a:p>
            <a:pPr>
              <a:defRPr/>
            </a:pPr>
            <a:r>
              <a:rPr lang="en-US"/>
              <a:t>Dept of CSE,GAT                                                                                                    2024-25                                                                                                                                                                        </a:t>
            </a:r>
            <a:endParaRPr lang="en-IN"/>
          </a:p>
        </p:txBody>
      </p:sp>
      <p:sp>
        <p:nvSpPr>
          <p:cNvPr id="7" name="Slide Number Placeholder 5">
            <a:extLst>
              <a:ext uri="{FF2B5EF4-FFF2-40B4-BE49-F238E27FC236}">
                <a16:creationId xmlns:a16="http://schemas.microsoft.com/office/drawing/2014/main" id="{A0191BB5-4DC6-E02E-AD0E-9C922C8E1003}"/>
              </a:ext>
            </a:extLst>
          </p:cNvPr>
          <p:cNvSpPr>
            <a:spLocks noGrp="1"/>
          </p:cNvSpPr>
          <p:nvPr>
            <p:ph type="sldNum" sz="quarter" idx="12"/>
          </p:nvPr>
        </p:nvSpPr>
        <p:spPr/>
        <p:txBody>
          <a:bodyPr/>
          <a:lstStyle>
            <a:lvl1pPr>
              <a:defRPr/>
            </a:lvl1pPr>
          </a:lstStyle>
          <a:p>
            <a:fld id="{99F0DF73-043B-EA42-82C6-02D3DDC5053C}" type="slidenum">
              <a:rPr lang="en-IN" altLang="en-US"/>
              <a:pPr/>
              <a:t>‹#›</a:t>
            </a:fld>
            <a:endParaRPr lang="en-IN" altLang="en-US"/>
          </a:p>
        </p:txBody>
      </p:sp>
    </p:spTree>
    <p:extLst>
      <p:ext uri="{BB962C8B-B14F-4D97-AF65-F5344CB8AC3E}">
        <p14:creationId xmlns:p14="http://schemas.microsoft.com/office/powerpoint/2010/main" val="3164426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5C53CFC0-0D03-F319-79F8-710EF935F808}"/>
              </a:ext>
            </a:extLst>
          </p:cNvPr>
          <p:cNvSpPr>
            <a:spLocks noGrp="1"/>
          </p:cNvSpPr>
          <p:nvPr>
            <p:ph type="dt" sz="half" idx="10"/>
          </p:nvPr>
        </p:nvSpPr>
        <p:spPr/>
        <p:txBody>
          <a:bodyPr/>
          <a:lstStyle>
            <a:lvl1pPr>
              <a:defRPr/>
            </a:lvl1pPr>
          </a:lstStyle>
          <a:p>
            <a:pPr>
              <a:defRPr/>
            </a:pPr>
            <a:endParaRPr lang="en-IN"/>
          </a:p>
        </p:txBody>
      </p:sp>
      <p:sp>
        <p:nvSpPr>
          <p:cNvPr id="6" name="Footer Placeholder 4">
            <a:extLst>
              <a:ext uri="{FF2B5EF4-FFF2-40B4-BE49-F238E27FC236}">
                <a16:creationId xmlns:a16="http://schemas.microsoft.com/office/drawing/2014/main" id="{C62DA62C-92DF-DFF6-B592-671CB90C18F8}"/>
              </a:ext>
            </a:extLst>
          </p:cNvPr>
          <p:cNvSpPr>
            <a:spLocks noGrp="1"/>
          </p:cNvSpPr>
          <p:nvPr>
            <p:ph type="ftr" sz="quarter" idx="11"/>
          </p:nvPr>
        </p:nvSpPr>
        <p:spPr/>
        <p:txBody>
          <a:bodyPr/>
          <a:lstStyle>
            <a:lvl1pPr>
              <a:defRPr/>
            </a:lvl1pPr>
          </a:lstStyle>
          <a:p>
            <a:pPr>
              <a:defRPr/>
            </a:pPr>
            <a:r>
              <a:rPr lang="en-US"/>
              <a:t>Dept of CSE,GAT                                                                                                    2024-25                                                                                                                                                                        </a:t>
            </a:r>
            <a:endParaRPr lang="en-IN"/>
          </a:p>
        </p:txBody>
      </p:sp>
      <p:sp>
        <p:nvSpPr>
          <p:cNvPr id="7" name="Slide Number Placeholder 5">
            <a:extLst>
              <a:ext uri="{FF2B5EF4-FFF2-40B4-BE49-F238E27FC236}">
                <a16:creationId xmlns:a16="http://schemas.microsoft.com/office/drawing/2014/main" id="{E3D476AC-422E-99C6-7A2F-0E1019374621}"/>
              </a:ext>
            </a:extLst>
          </p:cNvPr>
          <p:cNvSpPr>
            <a:spLocks noGrp="1"/>
          </p:cNvSpPr>
          <p:nvPr>
            <p:ph type="sldNum" sz="quarter" idx="12"/>
          </p:nvPr>
        </p:nvSpPr>
        <p:spPr/>
        <p:txBody>
          <a:bodyPr/>
          <a:lstStyle>
            <a:lvl1pPr>
              <a:defRPr/>
            </a:lvl1pPr>
          </a:lstStyle>
          <a:p>
            <a:fld id="{2A8070E3-9F45-9B49-BB25-3B9329E14BA5}" type="slidenum">
              <a:rPr lang="en-IN" altLang="en-US"/>
              <a:pPr/>
              <a:t>‹#›</a:t>
            </a:fld>
            <a:endParaRPr lang="en-IN" altLang="en-US"/>
          </a:p>
        </p:txBody>
      </p:sp>
    </p:spTree>
    <p:extLst>
      <p:ext uri="{BB962C8B-B14F-4D97-AF65-F5344CB8AC3E}">
        <p14:creationId xmlns:p14="http://schemas.microsoft.com/office/powerpoint/2010/main" val="30772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C31B49-FD21-9A1D-C3BB-009287E65AD4}"/>
              </a:ext>
            </a:extLst>
          </p:cNvPr>
          <p:cNvSpPr>
            <a:spLocks noGrp="1"/>
          </p:cNvSpPr>
          <p:nvPr>
            <p:ph type="dt" sz="half" idx="10"/>
          </p:nvPr>
        </p:nvSpPr>
        <p:spPr/>
        <p:txBody>
          <a:bodyPr/>
          <a:lstStyle>
            <a:lvl1pPr>
              <a:defRPr/>
            </a:lvl1pPr>
          </a:lstStyle>
          <a:p>
            <a:pPr>
              <a:defRPr/>
            </a:pPr>
            <a:endParaRPr lang="en-IN"/>
          </a:p>
        </p:txBody>
      </p:sp>
      <p:sp>
        <p:nvSpPr>
          <p:cNvPr id="5" name="Footer Placeholder 4">
            <a:extLst>
              <a:ext uri="{FF2B5EF4-FFF2-40B4-BE49-F238E27FC236}">
                <a16:creationId xmlns:a16="http://schemas.microsoft.com/office/drawing/2014/main" id="{5B2390B9-3DC5-DA9C-201F-03952E0EEF2D}"/>
              </a:ext>
            </a:extLst>
          </p:cNvPr>
          <p:cNvSpPr>
            <a:spLocks noGrp="1"/>
          </p:cNvSpPr>
          <p:nvPr>
            <p:ph type="ftr" sz="quarter" idx="11"/>
          </p:nvPr>
        </p:nvSpPr>
        <p:spPr/>
        <p:txBody>
          <a:bodyPr/>
          <a:lstStyle>
            <a:lvl1pPr>
              <a:defRPr/>
            </a:lvl1pPr>
          </a:lstStyle>
          <a:p>
            <a:pPr>
              <a:defRPr/>
            </a:pPr>
            <a:r>
              <a:rPr lang="en-US"/>
              <a:t>Dept of CSE,GAT                                                                                                    2024-25                                                                                                                                                                        </a:t>
            </a:r>
            <a:endParaRPr lang="en-IN"/>
          </a:p>
        </p:txBody>
      </p:sp>
      <p:sp>
        <p:nvSpPr>
          <p:cNvPr id="6" name="Slide Number Placeholder 5">
            <a:extLst>
              <a:ext uri="{FF2B5EF4-FFF2-40B4-BE49-F238E27FC236}">
                <a16:creationId xmlns:a16="http://schemas.microsoft.com/office/drawing/2014/main" id="{6AC17A0D-D154-4378-9F45-EBE8E75CD945}"/>
              </a:ext>
            </a:extLst>
          </p:cNvPr>
          <p:cNvSpPr>
            <a:spLocks noGrp="1"/>
          </p:cNvSpPr>
          <p:nvPr>
            <p:ph type="sldNum" sz="quarter" idx="12"/>
          </p:nvPr>
        </p:nvSpPr>
        <p:spPr/>
        <p:txBody>
          <a:bodyPr/>
          <a:lstStyle>
            <a:lvl1pPr>
              <a:defRPr/>
            </a:lvl1pPr>
          </a:lstStyle>
          <a:p>
            <a:fld id="{12517EA6-1071-CC4D-8526-19E05B014B3A}" type="slidenum">
              <a:rPr lang="en-IN" altLang="en-US"/>
              <a:pPr/>
              <a:t>‹#›</a:t>
            </a:fld>
            <a:endParaRPr lang="en-IN" altLang="en-US"/>
          </a:p>
        </p:txBody>
      </p:sp>
    </p:spTree>
    <p:extLst>
      <p:ext uri="{BB962C8B-B14F-4D97-AF65-F5344CB8AC3E}">
        <p14:creationId xmlns:p14="http://schemas.microsoft.com/office/powerpoint/2010/main" val="3549750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A844FE-B956-6F2A-61B1-3CEE07E53C92}"/>
              </a:ext>
            </a:extLst>
          </p:cNvPr>
          <p:cNvSpPr>
            <a:spLocks noGrp="1"/>
          </p:cNvSpPr>
          <p:nvPr>
            <p:ph type="dt" sz="half" idx="10"/>
          </p:nvPr>
        </p:nvSpPr>
        <p:spPr/>
        <p:txBody>
          <a:bodyPr/>
          <a:lstStyle>
            <a:lvl1pPr>
              <a:defRPr/>
            </a:lvl1pPr>
          </a:lstStyle>
          <a:p>
            <a:pPr>
              <a:defRPr/>
            </a:pPr>
            <a:endParaRPr lang="en-IN"/>
          </a:p>
        </p:txBody>
      </p:sp>
      <p:sp>
        <p:nvSpPr>
          <p:cNvPr id="5" name="Footer Placeholder 4">
            <a:extLst>
              <a:ext uri="{FF2B5EF4-FFF2-40B4-BE49-F238E27FC236}">
                <a16:creationId xmlns:a16="http://schemas.microsoft.com/office/drawing/2014/main" id="{03BBABD2-A75E-ED89-1ADB-5B8999441ABB}"/>
              </a:ext>
            </a:extLst>
          </p:cNvPr>
          <p:cNvSpPr>
            <a:spLocks noGrp="1"/>
          </p:cNvSpPr>
          <p:nvPr>
            <p:ph type="ftr" sz="quarter" idx="11"/>
          </p:nvPr>
        </p:nvSpPr>
        <p:spPr/>
        <p:txBody>
          <a:bodyPr/>
          <a:lstStyle>
            <a:lvl1pPr>
              <a:defRPr/>
            </a:lvl1pPr>
          </a:lstStyle>
          <a:p>
            <a:pPr>
              <a:defRPr/>
            </a:pPr>
            <a:r>
              <a:rPr lang="en-US"/>
              <a:t>Dept of CSE,GAT                                                                                                    2024-25                                                                                                                                                                        </a:t>
            </a:r>
            <a:endParaRPr lang="en-IN"/>
          </a:p>
        </p:txBody>
      </p:sp>
      <p:sp>
        <p:nvSpPr>
          <p:cNvPr id="6" name="Slide Number Placeholder 5">
            <a:extLst>
              <a:ext uri="{FF2B5EF4-FFF2-40B4-BE49-F238E27FC236}">
                <a16:creationId xmlns:a16="http://schemas.microsoft.com/office/drawing/2014/main" id="{83CEBDDE-8511-9B69-25D6-BC39623DEFBB}"/>
              </a:ext>
            </a:extLst>
          </p:cNvPr>
          <p:cNvSpPr>
            <a:spLocks noGrp="1"/>
          </p:cNvSpPr>
          <p:nvPr>
            <p:ph type="sldNum" sz="quarter" idx="12"/>
          </p:nvPr>
        </p:nvSpPr>
        <p:spPr/>
        <p:txBody>
          <a:bodyPr/>
          <a:lstStyle>
            <a:lvl1pPr>
              <a:defRPr/>
            </a:lvl1pPr>
          </a:lstStyle>
          <a:p>
            <a:fld id="{E530573D-3DD7-0049-ACC5-B5A4AF841E76}" type="slidenum">
              <a:rPr lang="en-IN" altLang="en-US"/>
              <a:pPr/>
              <a:t>‹#›</a:t>
            </a:fld>
            <a:endParaRPr lang="en-IN" altLang="en-US"/>
          </a:p>
        </p:txBody>
      </p:sp>
    </p:spTree>
    <p:extLst>
      <p:ext uri="{BB962C8B-B14F-4D97-AF65-F5344CB8AC3E}">
        <p14:creationId xmlns:p14="http://schemas.microsoft.com/office/powerpoint/2010/main" val="3938159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BDFFCF3B-B0DC-1AB2-2B78-21CA222FA7F3}"/>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a:extLst>
              <a:ext uri="{FF2B5EF4-FFF2-40B4-BE49-F238E27FC236}">
                <a16:creationId xmlns:a16="http://schemas.microsoft.com/office/drawing/2014/main" id="{9189C655-F0BF-108A-777B-E49F8EE91DDE}"/>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a:extLst>
              <a:ext uri="{FF2B5EF4-FFF2-40B4-BE49-F238E27FC236}">
                <a16:creationId xmlns:a16="http://schemas.microsoft.com/office/drawing/2014/main" id="{8BF8BC24-6785-4461-B36C-3CCCD8CEBB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endParaRPr lang="en-IN"/>
          </a:p>
        </p:txBody>
      </p:sp>
      <p:sp>
        <p:nvSpPr>
          <p:cNvPr id="5" name="Footer Placeholder 4">
            <a:extLst>
              <a:ext uri="{FF2B5EF4-FFF2-40B4-BE49-F238E27FC236}">
                <a16:creationId xmlns:a16="http://schemas.microsoft.com/office/drawing/2014/main" id="{2BAAC468-0C9E-4D0D-BFC0-4AA19A4AA9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r>
              <a:rPr lang="en-US"/>
              <a:t>Dept of CSE,GAT                                                                                                    2024-25                                                                                                                                                                        </a:t>
            </a:r>
            <a:endParaRPr lang="en-IN"/>
          </a:p>
        </p:txBody>
      </p:sp>
      <p:sp>
        <p:nvSpPr>
          <p:cNvPr id="6" name="Slide Number Placeholder 5">
            <a:extLst>
              <a:ext uri="{FF2B5EF4-FFF2-40B4-BE49-F238E27FC236}">
                <a16:creationId xmlns:a16="http://schemas.microsoft.com/office/drawing/2014/main" id="{67046068-D519-485E-9494-D3146CFAE188}"/>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fld id="{809DD187-0947-7A43-9E57-BB38B9A213F6}" type="slidenum">
              <a:rPr lang="en-IN" altLang="en-US"/>
              <a:pPr/>
              <a:t>‹#›</a:t>
            </a:fld>
            <a:endParaRPr lang="en-IN" altLang="en-US"/>
          </a:p>
        </p:txBody>
      </p:sp>
    </p:spTree>
  </p:cSld>
  <p:clrMap bg1="lt1" tx1="dk1" bg2="lt2" tx2="dk2" accent1="accent1" accent2="accent2" accent3="accent3" accent4="accent4" accent5="accent5" accent6="accent6" hlink="hlink" folHlink="folHlink"/>
  <p:sldLayoutIdLst>
    <p:sldLayoutId id="2147483684" r:id="rId1"/>
    <p:sldLayoutId id="2147483685"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57D31-16A8-4CBC-976B-497F13E5698F}"/>
              </a:ext>
            </a:extLst>
          </p:cNvPr>
          <p:cNvSpPr>
            <a:spLocks noGrp="1"/>
          </p:cNvSpPr>
          <p:nvPr>
            <p:ph type="ctrTitle"/>
          </p:nvPr>
        </p:nvSpPr>
        <p:spPr>
          <a:xfrm>
            <a:off x="1060450" y="173038"/>
            <a:ext cx="10977563" cy="1058862"/>
          </a:xfrm>
        </p:spPr>
        <p:txBody>
          <a:bodyPr rtlCol="0">
            <a:noAutofit/>
          </a:bodyPr>
          <a:lstStyle/>
          <a:p>
            <a:pPr eaLnBrk="1" fontAlgn="auto" hangingPunct="1">
              <a:spcAft>
                <a:spcPts val="0"/>
              </a:spcAft>
              <a:defRPr/>
            </a:pPr>
            <a:r>
              <a:rPr lang="en-IN" sz="2800" b="1" dirty="0">
                <a:solidFill>
                  <a:schemeClr val="accent1">
                    <a:lumMod val="75000"/>
                  </a:schemeClr>
                </a:solidFill>
                <a:latin typeface="Times New Roman" panose="02020603050405020304" pitchFamily="18" charset="0"/>
                <a:cs typeface="Times New Roman" panose="02020603050405020304" pitchFamily="18" charset="0"/>
              </a:rPr>
              <a:t>GLOBAL ACADEMY OF TECHNOLOGY</a:t>
            </a:r>
            <a:br>
              <a:rPr lang="en-IN" sz="2800" b="1" dirty="0">
                <a:solidFill>
                  <a:schemeClr val="accent1">
                    <a:lumMod val="75000"/>
                  </a:schemeClr>
                </a:solidFill>
                <a:latin typeface="Times New Roman" panose="02020603050405020304" pitchFamily="18" charset="0"/>
                <a:cs typeface="Times New Roman" panose="02020603050405020304" pitchFamily="18" charset="0"/>
              </a:rPr>
            </a:br>
            <a:r>
              <a:rPr lang="en-IN" sz="2800" b="1" dirty="0">
                <a:solidFill>
                  <a:srgbClr val="C00000"/>
                </a:solidFill>
                <a:latin typeface="Times New Roman" panose="02020603050405020304" pitchFamily="18" charset="0"/>
                <a:cs typeface="Times New Roman" panose="02020603050405020304" pitchFamily="18" charset="0"/>
              </a:rPr>
              <a:t>DEPARTMENT OF COMPUTER SCIENCE AND ENGINEERING</a:t>
            </a:r>
          </a:p>
        </p:txBody>
      </p:sp>
      <p:pic>
        <p:nvPicPr>
          <p:cNvPr id="6147" name="Picture 3" descr="K:\ns2 templates\KIRAN NS-2\college_logo3.png">
            <a:extLst>
              <a:ext uri="{FF2B5EF4-FFF2-40B4-BE49-F238E27FC236}">
                <a16:creationId xmlns:a16="http://schemas.microsoft.com/office/drawing/2014/main" id="{22A62160-9151-015E-2166-880222BD39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525" y="173038"/>
            <a:ext cx="923925"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 name="Table 6">
            <a:extLst>
              <a:ext uri="{FF2B5EF4-FFF2-40B4-BE49-F238E27FC236}">
                <a16:creationId xmlns:a16="http://schemas.microsoft.com/office/drawing/2014/main" id="{CC975F29-D46D-4633-AC86-317A470C52FF}"/>
              </a:ext>
            </a:extLst>
          </p:cNvPr>
          <p:cNvGraphicFramePr>
            <a:graphicFrameLocks noGrp="1"/>
          </p:cNvGraphicFramePr>
          <p:nvPr>
            <p:extLst>
              <p:ext uri="{D42A27DB-BD31-4B8C-83A1-F6EECF244321}">
                <p14:modId xmlns:p14="http://schemas.microsoft.com/office/powerpoint/2010/main" val="2417485738"/>
              </p:ext>
            </p:extLst>
          </p:nvPr>
        </p:nvGraphicFramePr>
        <p:xfrm>
          <a:off x="1133475" y="1404938"/>
          <a:ext cx="10375900" cy="5139983"/>
        </p:xfrm>
        <a:graphic>
          <a:graphicData uri="http://schemas.openxmlformats.org/drawingml/2006/table">
            <a:tbl>
              <a:tblPr/>
              <a:tblGrid>
                <a:gridCol w="1322388">
                  <a:extLst>
                    <a:ext uri="{9D8B030D-6E8A-4147-A177-3AD203B41FA5}">
                      <a16:colId xmlns:a16="http://schemas.microsoft.com/office/drawing/2014/main" val="1753061745"/>
                    </a:ext>
                  </a:extLst>
                </a:gridCol>
                <a:gridCol w="5672137">
                  <a:extLst>
                    <a:ext uri="{9D8B030D-6E8A-4147-A177-3AD203B41FA5}">
                      <a16:colId xmlns:a16="http://schemas.microsoft.com/office/drawing/2014/main" val="2810612274"/>
                    </a:ext>
                  </a:extLst>
                </a:gridCol>
                <a:gridCol w="1198562">
                  <a:extLst>
                    <a:ext uri="{9D8B030D-6E8A-4147-A177-3AD203B41FA5}">
                      <a16:colId xmlns:a16="http://schemas.microsoft.com/office/drawing/2014/main" val="3872101471"/>
                    </a:ext>
                  </a:extLst>
                </a:gridCol>
                <a:gridCol w="2182813">
                  <a:extLst>
                    <a:ext uri="{9D8B030D-6E8A-4147-A177-3AD203B41FA5}">
                      <a16:colId xmlns:a16="http://schemas.microsoft.com/office/drawing/2014/main" val="2756061811"/>
                    </a:ext>
                  </a:extLst>
                </a:gridCol>
              </a:tblGrid>
              <a:tr h="799940">
                <a:tc>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50000"/>
                        </a:lnSpc>
                        <a:spcBef>
                          <a:spcPct val="0"/>
                        </a:spcBef>
                        <a:spcAft>
                          <a:spcPts val="100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Subject Name</a:t>
                      </a:r>
                      <a:endParaRPr kumimoji="0" lang="en-IN"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M </a:t>
                      </a:r>
                      <a:r>
                        <a:rPr kumimoji="0" lang="en-US" altLang="en-US" sz="2000" b="1" i="0" u="none" strike="noStrike" cap="none" normalizeH="0" baseline="0" dirty="0" err="1">
                          <a:ln>
                            <a:noFill/>
                          </a:ln>
                          <a:solidFill>
                            <a:srgbClr val="FF0000"/>
                          </a:solidFill>
                          <a:effectLst/>
                          <a:latin typeface="Times New Roman" panose="02020603050405020304" pitchFamily="18" charset="0"/>
                          <a:cs typeface="Times New Roman" panose="02020603050405020304" pitchFamily="18" charset="0"/>
                        </a:rPr>
                        <a:t>ajor</a:t>
                      </a:r>
                      <a:r>
                        <a:rPr kumimoji="0" lang="en-US" alt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Project Work Phase I</a:t>
                      </a:r>
                    </a:p>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2000" b="1" i="0" u="none" strike="noStrike" cap="none" normalizeH="0" baseline="0" dirty="0">
                          <a:ln>
                            <a:noFill/>
                          </a:ln>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Final Review : Literature Survey and Design</a:t>
                      </a:r>
                      <a:endParaRPr kumimoji="0" lang="en-IN" altLang="en-US" sz="2000" b="1" i="0" u="none" strike="noStrike" cap="none" normalizeH="0" baseline="0" dirty="0">
                        <a:ln>
                          <a:noFill/>
                        </a:ln>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50000"/>
                        </a:lnSpc>
                        <a:spcBef>
                          <a:spcPct val="0"/>
                        </a:spcBef>
                        <a:spcAft>
                          <a:spcPts val="100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Subject Code</a:t>
                      </a:r>
                      <a:endParaRPr kumimoji="0" lang="en-IN"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2000" b="1" i="0" u="none" strike="noStrike" cap="none" normalizeH="0" baseline="0" dirty="0">
                          <a:ln>
                            <a:noFill/>
                          </a:ln>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22CSEP65</a:t>
                      </a:r>
                      <a:endParaRPr kumimoji="0" lang="en-IN" altLang="en-US" sz="2000" b="1" i="0" u="none" strike="noStrike" cap="none" normalizeH="0" baseline="0" dirty="0">
                        <a:ln>
                          <a:noFill/>
                        </a:ln>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79633592"/>
                  </a:ext>
                </a:extLst>
              </a:tr>
              <a:tr h="454042">
                <a:tc rowSpan="4">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50000"/>
                        </a:lnSpc>
                        <a:spcBef>
                          <a:spcPct val="0"/>
                        </a:spcBef>
                        <a:spcAft>
                          <a:spcPts val="100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Student Name</a:t>
                      </a:r>
                      <a:endParaRPr kumimoji="0" lang="en-IN"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Kruthi NL </a:t>
                      </a:r>
                      <a:endParaRPr kumimoji="0" lang="en-IN"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rowSpan="4">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50000"/>
                        </a:lnSpc>
                        <a:spcBef>
                          <a:spcPct val="0"/>
                        </a:spcBef>
                        <a:spcAft>
                          <a:spcPts val="100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USN</a:t>
                      </a:r>
                      <a:endParaRPr kumimoji="0" lang="en-IN"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1GA22CS089 </a:t>
                      </a:r>
                      <a:endParaRPr kumimoji="0" lang="en-IN"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41029336"/>
                  </a:ext>
                </a:extLst>
              </a:tr>
              <a:tr h="454042">
                <a:tc vMerge="1">
                  <a:txBody>
                    <a:bodyPr/>
                    <a:lstStyle/>
                    <a:p>
                      <a:endParaRPr lang="en-US"/>
                    </a:p>
                  </a:txBody>
                  <a:tcPr/>
                </a:tc>
                <a:tc>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Mohan Kumar M </a:t>
                      </a:r>
                      <a:endParaRPr kumimoji="0" lang="en-IN"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1GA22CS106 </a:t>
                      </a:r>
                      <a:endParaRPr kumimoji="0" lang="en-IN"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29920807"/>
                  </a:ext>
                </a:extLst>
              </a:tr>
              <a:tr h="454042">
                <a:tc vMerge="1">
                  <a:txBody>
                    <a:bodyPr/>
                    <a:lstStyle/>
                    <a:p>
                      <a:endParaRPr lang="en-US"/>
                    </a:p>
                  </a:txBody>
                  <a:tcPr/>
                </a:tc>
                <a:tc>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Prabhu Gouda</a:t>
                      </a:r>
                      <a:endParaRPr kumimoji="0" lang="en-IN"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1GA22CS119 </a:t>
                      </a:r>
                      <a:endParaRPr kumimoji="0" lang="en-IN"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98772788"/>
                  </a:ext>
                </a:extLst>
              </a:tr>
              <a:tr h="454042">
                <a:tc vMerge="1">
                  <a:txBody>
                    <a:bodyPr/>
                    <a:lstStyle/>
                    <a:p>
                      <a:endParaRPr lang="en-US"/>
                    </a:p>
                  </a:txBody>
                  <a:tcPr/>
                </a:tc>
                <a:tc>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Puneeth M</a:t>
                      </a:r>
                      <a:endParaRPr kumimoji="0" lang="en-IN"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1GA22CS123 </a:t>
                      </a:r>
                      <a:endParaRPr kumimoji="0" lang="en-IN"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86329980"/>
                  </a:ext>
                </a:extLst>
              </a:tr>
              <a:tr h="658838">
                <a:tc>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50000"/>
                        </a:lnSpc>
                        <a:spcBef>
                          <a:spcPct val="0"/>
                        </a:spcBef>
                        <a:spcAft>
                          <a:spcPts val="1000"/>
                        </a:spcAft>
                        <a:buClrTx/>
                        <a:buSzTx/>
                        <a:buFontTx/>
                        <a:buNone/>
                        <a:tabLst/>
                      </a:pPr>
                      <a:r>
                        <a:rPr kumimoji="0" lang="en-US" altLang="en-US" sz="16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Domain</a:t>
                      </a:r>
                      <a:endParaRPr kumimoji="0" lang="en-IN" altLang="en-US" sz="16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50000"/>
                        </a:lnSpc>
                        <a:spcBef>
                          <a:spcPct val="0"/>
                        </a:spcBef>
                        <a:spcAft>
                          <a:spcPts val="100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AI and IoT</a:t>
                      </a:r>
                      <a:endParaRPr kumimoji="0" lang="en-IN"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50000"/>
                        </a:lnSpc>
                        <a:spcBef>
                          <a:spcPct val="0"/>
                        </a:spcBef>
                        <a:spcAft>
                          <a:spcPts val="1000"/>
                        </a:spcAft>
                        <a:buClrTx/>
                        <a:buSzTx/>
                        <a:buFontTx/>
                        <a:buNone/>
                        <a:tabLst/>
                      </a:pPr>
                      <a:r>
                        <a:rPr kumimoji="0" lang="en-US" altLang="en-US" sz="16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Group No:</a:t>
                      </a:r>
                      <a:endParaRPr kumimoji="0" lang="en-IN" altLang="en-US" sz="16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50000"/>
                        </a:lnSpc>
                        <a:spcBef>
                          <a:spcPct val="0"/>
                        </a:spcBef>
                        <a:spcAft>
                          <a:spcPts val="100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G36 </a:t>
                      </a:r>
                      <a:endParaRPr kumimoji="0" lang="en-IN"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57781094"/>
                  </a:ext>
                </a:extLst>
              </a:tr>
              <a:tr h="658838">
                <a:tc>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50000"/>
                        </a:lnSpc>
                        <a:spcBef>
                          <a:spcPct val="0"/>
                        </a:spcBef>
                        <a:spcAft>
                          <a:spcPts val="100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Project Title</a:t>
                      </a:r>
                      <a:endParaRPr kumimoji="0" lang="en-IN"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gridSpan="3">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50000"/>
                        </a:lnSpc>
                        <a:spcBef>
                          <a:spcPct val="0"/>
                        </a:spcBef>
                        <a:spcAft>
                          <a:spcPts val="100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lang="en-US" sz="1600" kern="1200" dirty="0">
                          <a:solidFill>
                            <a:schemeClr val="tx1"/>
                          </a:solidFill>
                          <a:effectLst/>
                          <a:latin typeface="Times New Roman" panose="02020603050405020304" pitchFamily="18" charset="0"/>
                          <a:ea typeface="+mn-ea"/>
                          <a:cs typeface="Times New Roman" panose="02020603050405020304" pitchFamily="18" charset="0"/>
                        </a:rPr>
                        <a:t>Enhancing Prehospital Care Through AI and IoT: Automated Dispatch, Vitals Tracking, and Dynamic Hospital Routing</a:t>
                      </a:r>
                      <a:r>
                        <a:rPr lang="en-US" sz="1800" kern="1200" dirty="0">
                          <a:solidFill>
                            <a:schemeClr val="tx1"/>
                          </a:solidFill>
                          <a:effectLst/>
                          <a:latin typeface="Calibri" panose="020F0502020204030204" pitchFamily="34" charset="0"/>
                          <a:ea typeface="+mn-ea"/>
                          <a:cs typeface="+mn-cs"/>
                        </a:rPr>
                        <a:t>.</a:t>
                      </a:r>
                      <a:r>
                        <a:rPr lang="en-IN" sz="1600" dirty="0">
                          <a:effectLst/>
                        </a:rPr>
                        <a:t>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IN"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04051003"/>
                  </a:ext>
                </a:extLst>
              </a:tr>
              <a:tr h="565171">
                <a:tc>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50000"/>
                        </a:lnSpc>
                        <a:spcBef>
                          <a:spcPct val="0"/>
                        </a:spcBef>
                        <a:spcAft>
                          <a:spcPts val="100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Undertaken at</a:t>
                      </a:r>
                      <a:endParaRPr kumimoji="0" lang="en-IN"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gridSpan="3">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50000"/>
                        </a:lnSpc>
                        <a:spcBef>
                          <a:spcPct val="0"/>
                        </a:spcBef>
                        <a:spcAft>
                          <a:spcPts val="100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Global Academy Of Technology </a:t>
                      </a:r>
                      <a:endParaRPr kumimoji="0" lang="en-IN"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15626723"/>
                  </a:ext>
                </a:extLst>
              </a:tr>
              <a:tr h="565171">
                <a:tc>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50000"/>
                        </a:lnSpc>
                        <a:spcBef>
                          <a:spcPct val="0"/>
                        </a:spcBef>
                        <a:spcAft>
                          <a:spcPts val="100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Guide Name</a:t>
                      </a:r>
                      <a:endParaRPr kumimoji="0" lang="en-IN"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gridSpan="3">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50000"/>
                        </a:lnSpc>
                        <a:spcBef>
                          <a:spcPct val="0"/>
                        </a:spcBef>
                        <a:spcAft>
                          <a:spcPts val="100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Prof Sowmya B.K </a:t>
                      </a:r>
                      <a:endParaRPr kumimoji="0" lang="en-IN"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099790329"/>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EA74D2EC-9D1B-35A3-550C-3923E5E6A394}"/>
              </a:ext>
            </a:extLst>
          </p:cNvPr>
          <p:cNvSpPr>
            <a:spLocks noGrp="1"/>
          </p:cNvSpPr>
          <p:nvPr>
            <p:ph type="title"/>
          </p:nvPr>
        </p:nvSpPr>
        <p:spPr>
          <a:xfrm>
            <a:off x="838200" y="365125"/>
            <a:ext cx="10515600" cy="703263"/>
          </a:xfrm>
        </p:spPr>
        <p:txBody>
          <a:bodyPr/>
          <a:lstStyle/>
          <a:p>
            <a:pPr eaLnBrk="1" hangingPunct="1"/>
            <a:endParaRPr lang="en-IN" altLang="en-US" sz="4000" b="1" dirty="0">
              <a:latin typeface="Times New Roman" panose="02020603050405020304" pitchFamily="18" charset="0"/>
              <a:cs typeface="Times New Roman" panose="02020603050405020304" pitchFamily="18" charset="0"/>
            </a:endParaRPr>
          </a:p>
        </p:txBody>
      </p:sp>
      <p:sp>
        <p:nvSpPr>
          <p:cNvPr id="8195" name="Content Placeholder 2">
            <a:extLst>
              <a:ext uri="{FF2B5EF4-FFF2-40B4-BE49-F238E27FC236}">
                <a16:creationId xmlns:a16="http://schemas.microsoft.com/office/drawing/2014/main" id="{C09E49F5-35E7-36CB-55F9-B2BE34E020E2}"/>
              </a:ext>
            </a:extLst>
          </p:cNvPr>
          <p:cNvSpPr>
            <a:spLocks noGrp="1"/>
          </p:cNvSpPr>
          <p:nvPr>
            <p:ph idx="1"/>
          </p:nvPr>
        </p:nvSpPr>
        <p:spPr>
          <a:xfrm>
            <a:off x="838200" y="996950"/>
            <a:ext cx="10515600" cy="5221288"/>
          </a:xfrm>
        </p:spPr>
        <p:txBody>
          <a:bodyPr/>
          <a:lstStyle/>
          <a:p>
            <a:pPr eaLnBrk="1" hangingPunct="1"/>
            <a:r>
              <a:rPr lang="en-IN" altLang="en-US" sz="3200" dirty="0">
                <a:latin typeface="Times New Roman" panose="02020603050405020304" pitchFamily="18" charset="0"/>
                <a:cs typeface="Times New Roman" panose="02020603050405020304" pitchFamily="18" charset="0"/>
              </a:rPr>
              <a:t>Introduction</a:t>
            </a:r>
          </a:p>
          <a:p>
            <a:pPr eaLnBrk="1" hangingPunct="1"/>
            <a:r>
              <a:rPr lang="en-IN" altLang="en-US" sz="3200" dirty="0">
                <a:latin typeface="Times New Roman" panose="02020603050405020304" pitchFamily="18" charset="0"/>
                <a:cs typeface="Times New Roman" panose="02020603050405020304" pitchFamily="18" charset="0"/>
              </a:rPr>
              <a:t>Problem Statement</a:t>
            </a:r>
          </a:p>
          <a:p>
            <a:pPr eaLnBrk="1" hangingPunct="1"/>
            <a:r>
              <a:rPr lang="en-IN" altLang="en-US" sz="3200" dirty="0">
                <a:latin typeface="Times New Roman" panose="02020603050405020304" pitchFamily="18" charset="0"/>
                <a:cs typeface="Times New Roman" panose="02020603050405020304" pitchFamily="18" charset="0"/>
              </a:rPr>
              <a:t>Objectives</a:t>
            </a:r>
          </a:p>
          <a:p>
            <a:pPr eaLnBrk="1" hangingPunct="1"/>
            <a:r>
              <a:rPr lang="en-IN" altLang="en-US" sz="3200" dirty="0">
                <a:latin typeface="Times New Roman" panose="02020603050405020304" pitchFamily="18" charset="0"/>
                <a:cs typeface="Times New Roman" panose="02020603050405020304" pitchFamily="18" charset="0"/>
              </a:rPr>
              <a:t>Literature Survey</a:t>
            </a:r>
          </a:p>
          <a:p>
            <a:pPr eaLnBrk="1" hangingPunct="1"/>
            <a:r>
              <a:rPr lang="en-IN" altLang="en-US" sz="3200" dirty="0">
                <a:latin typeface="Times New Roman" panose="02020603050405020304" pitchFamily="18" charset="0"/>
                <a:cs typeface="Times New Roman" panose="02020603050405020304" pitchFamily="18" charset="0"/>
              </a:rPr>
              <a:t>Architecture </a:t>
            </a:r>
          </a:p>
          <a:p>
            <a:pPr eaLnBrk="1" hangingPunct="1"/>
            <a:r>
              <a:rPr lang="en-US" altLang="en-US" sz="3200" dirty="0">
                <a:latin typeface="Times New Roman" panose="02020603050405020304" pitchFamily="18" charset="0"/>
                <a:cs typeface="Times New Roman" panose="02020603050405020304" pitchFamily="18" charset="0"/>
              </a:rPr>
              <a:t>M</a:t>
            </a:r>
            <a:r>
              <a:rPr lang="en-IN" altLang="en-US" sz="3200" dirty="0" err="1">
                <a:latin typeface="Times New Roman" panose="02020603050405020304" pitchFamily="18" charset="0"/>
                <a:cs typeface="Times New Roman" panose="02020603050405020304" pitchFamily="18" charset="0"/>
              </a:rPr>
              <a:t>ethodology</a:t>
            </a:r>
            <a:r>
              <a:rPr lang="en-IN" altLang="en-US" sz="3200" dirty="0">
                <a:latin typeface="Times New Roman" panose="02020603050405020304" pitchFamily="18" charset="0"/>
                <a:cs typeface="Times New Roman" panose="02020603050405020304" pitchFamily="18" charset="0"/>
              </a:rPr>
              <a:t> </a:t>
            </a:r>
            <a:r>
              <a:rPr lang="en-IN" altLang="en-US" sz="3200" dirty="0" err="1">
                <a:latin typeface="Times New Roman" panose="02020603050405020304" pitchFamily="18" charset="0"/>
                <a:cs typeface="Times New Roman" panose="02020603050405020304" pitchFamily="18" charset="0"/>
              </a:rPr>
              <a:t>ms</a:t>
            </a:r>
            <a:endParaRPr lang="en-IN" altLang="en-US" sz="3200" dirty="0">
              <a:latin typeface="Times New Roman" panose="02020603050405020304" pitchFamily="18" charset="0"/>
              <a:cs typeface="Times New Roman" panose="02020603050405020304" pitchFamily="18" charset="0"/>
            </a:endParaRPr>
          </a:p>
          <a:p>
            <a:pPr eaLnBrk="1" hangingPunct="1"/>
            <a:r>
              <a:rPr lang="en-IN" altLang="en-US" sz="3200" dirty="0">
                <a:latin typeface="Times New Roman" panose="02020603050405020304" pitchFamily="18" charset="0"/>
                <a:cs typeface="Times New Roman" panose="02020603050405020304" pitchFamily="18" charset="0"/>
              </a:rPr>
              <a:t>References </a:t>
            </a:r>
          </a:p>
        </p:txBody>
      </p:sp>
      <p:sp>
        <p:nvSpPr>
          <p:cNvPr id="8196" name="Slide Number Placeholder 7">
            <a:extLst>
              <a:ext uri="{FF2B5EF4-FFF2-40B4-BE49-F238E27FC236}">
                <a16:creationId xmlns:a16="http://schemas.microsoft.com/office/drawing/2014/main" id="{88C4CCBD-C573-FD89-180E-D42B644723B4}"/>
              </a:ext>
            </a:extLst>
          </p:cNvPr>
          <p:cNvSpPr>
            <a:spLocks noGrp="1" noChangeArrowheads="1"/>
          </p:cNvSpPr>
          <p:nvPr>
            <p:ph type="sldNum" sz="quarter" idx="11"/>
          </p:nvPr>
        </p:nvSpPr>
        <p:spPr bwMode="auto">
          <a:xfrm>
            <a:off x="9190038" y="63563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4B65CC1A-2146-3C44-9A3E-9E3416CD1ACE}" type="slidenum">
              <a:rPr lang="en-IN" altLang="en-US" sz="1200">
                <a:solidFill>
                  <a:srgbClr val="898989"/>
                </a:solidFill>
                <a:latin typeface="Times New Roman" panose="02020603050405020304" pitchFamily="18" charset="0"/>
                <a:cs typeface="Times New Roman" panose="02020603050405020304" pitchFamily="18" charset="0"/>
              </a:rPr>
              <a:pPr>
                <a:lnSpc>
                  <a:spcPct val="100000"/>
                </a:lnSpc>
                <a:spcBef>
                  <a:spcPct val="0"/>
                </a:spcBef>
                <a:buFontTx/>
                <a:buNone/>
              </a:pPr>
              <a:t>2</a:t>
            </a:fld>
            <a:endParaRPr lang="en-IN" altLang="en-US" sz="1200">
              <a:solidFill>
                <a:srgbClr val="898989"/>
              </a:solidFill>
              <a:latin typeface="Times New Roman" panose="02020603050405020304" pitchFamily="18" charset="0"/>
              <a:cs typeface="Times New Roman" panose="02020603050405020304" pitchFamily="18" charset="0"/>
            </a:endParaRPr>
          </a:p>
        </p:txBody>
      </p:sp>
      <p:sp>
        <p:nvSpPr>
          <p:cNvPr id="11" name="Footer Placeholder 10">
            <a:extLst>
              <a:ext uri="{FF2B5EF4-FFF2-40B4-BE49-F238E27FC236}">
                <a16:creationId xmlns:a16="http://schemas.microsoft.com/office/drawing/2014/main" id="{6FFA6828-B75A-4F9C-B6D3-F360D1467865}"/>
              </a:ext>
            </a:extLst>
          </p:cNvPr>
          <p:cNvSpPr>
            <a:spLocks noGrp="1"/>
          </p:cNvSpPr>
          <p:nvPr>
            <p:ph type="ftr" sz="quarter" idx="10"/>
          </p:nvPr>
        </p:nvSpPr>
        <p:spPr>
          <a:xfrm>
            <a:off x="508000" y="6126163"/>
            <a:ext cx="6045200" cy="457200"/>
          </a:xfrm>
        </p:spPr>
        <p:txBody>
          <a:bodyPr/>
          <a:lstStyle/>
          <a:p>
            <a:pPr>
              <a:defRPr/>
            </a:pPr>
            <a:r>
              <a:rPr lang="en-US" dirty="0">
                <a:latin typeface="Times New Roman" panose="02020603050405020304" pitchFamily="18" charset="0"/>
                <a:cs typeface="Times New Roman" panose="02020603050405020304" pitchFamily="18" charset="0"/>
              </a:rPr>
              <a:t>Dept of CSE,GAT                                                                                                    2024-25                                                                                                                                                                        </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D3E64CB1-F569-B7B3-857F-105A908CC437}"/>
              </a:ext>
            </a:extLst>
          </p:cNvPr>
          <p:cNvSpPr>
            <a:spLocks noGrp="1"/>
          </p:cNvSpPr>
          <p:nvPr>
            <p:ph type="title"/>
          </p:nvPr>
        </p:nvSpPr>
        <p:spPr/>
        <p:txBody>
          <a:bodyPr/>
          <a:lstStyle/>
          <a:p>
            <a:pPr eaLnBrk="1" hangingPunct="1"/>
            <a:r>
              <a:rPr lang="en-IN" altLang="en-US" sz="4000" b="1" dirty="0">
                <a:latin typeface="Times New Roman" panose="02020603050405020304" pitchFamily="18" charset="0"/>
                <a:cs typeface="Times New Roman" panose="02020603050405020304" pitchFamily="18" charset="0"/>
              </a:rPr>
              <a:t>Introduction</a:t>
            </a:r>
          </a:p>
        </p:txBody>
      </p:sp>
      <p:sp>
        <p:nvSpPr>
          <p:cNvPr id="10243" name="Content Placeholder 2">
            <a:extLst>
              <a:ext uri="{FF2B5EF4-FFF2-40B4-BE49-F238E27FC236}">
                <a16:creationId xmlns:a16="http://schemas.microsoft.com/office/drawing/2014/main" id="{F265A0F3-9E46-7969-DE3C-0A7EAE19F4B3}"/>
              </a:ext>
            </a:extLst>
          </p:cNvPr>
          <p:cNvSpPr>
            <a:spLocks noGrp="1"/>
          </p:cNvSpPr>
          <p:nvPr>
            <p:ph idx="1"/>
          </p:nvPr>
        </p:nvSpPr>
        <p:spPr/>
        <p:txBody>
          <a:bodyPr/>
          <a:lstStyle/>
          <a:p>
            <a:pPr algn="just"/>
            <a:r>
              <a:rPr lang="en-IN" sz="2400" dirty="0">
                <a:latin typeface="Times New Roman" panose="02020603050405020304" pitchFamily="18" charset="0"/>
                <a:cs typeface="Times New Roman" panose="02020603050405020304" pitchFamily="18" charset="0"/>
              </a:rPr>
              <a:t>In rapidly urbanizing regions like Bangalore, emergency medical services face critical delays due to traffic congestion, poor coordination, and inadequate infrastructure. </a:t>
            </a:r>
          </a:p>
          <a:p>
            <a:pPr algn="just"/>
            <a:r>
              <a:rPr lang="en-IN" sz="2400" dirty="0">
                <a:latin typeface="Times New Roman" panose="02020603050405020304" pitchFamily="18" charset="0"/>
                <a:cs typeface="Times New Roman" panose="02020603050405020304" pitchFamily="18" charset="0"/>
              </a:rPr>
              <a:t>These issues are exacerbated in surrounding rural areas where the lack of nearby hospitals and ambulance availability results in the loss of precious time known as the “golden hour”—the first hour after a traumatic injury during which prompt medical treatment can significantly increase survival chances. </a:t>
            </a:r>
          </a:p>
          <a:p>
            <a:pPr algn="just"/>
            <a:r>
              <a:rPr lang="en-IN" sz="2400" dirty="0">
                <a:latin typeface="Times New Roman" panose="02020603050405020304" pitchFamily="18" charset="0"/>
                <a:cs typeface="Times New Roman" panose="02020603050405020304" pitchFamily="18" charset="0"/>
              </a:rPr>
              <a:t>The system aims to bridge these gaps through an intelligent, tech-driven approach.</a:t>
            </a:r>
          </a:p>
          <a:p>
            <a:pPr algn="just"/>
            <a:r>
              <a:rPr lang="en-IN" altLang="en-US" sz="2400" dirty="0">
                <a:latin typeface="Times New Roman" panose="02020603050405020304" pitchFamily="18" charset="0"/>
                <a:cs typeface="Times New Roman" panose="02020603050405020304" pitchFamily="18" charset="0"/>
              </a:rPr>
              <a:t>The project is an innovative solution leveraging Artificial Intelligence (AI) and the Internet of Things (IoT) to create a seamless emergency response ecosystem.</a:t>
            </a:r>
            <a:endParaRPr lang="en-IN" sz="24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0244" name="Slide Number Placeholder 9">
            <a:extLst>
              <a:ext uri="{FF2B5EF4-FFF2-40B4-BE49-F238E27FC236}">
                <a16:creationId xmlns:a16="http://schemas.microsoft.com/office/drawing/2014/main" id="{F4AFDCDA-986C-844F-599C-C58E076E0B1E}"/>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7D19951E-5230-0E43-A174-B267F0D4451A}" type="slidenum">
              <a:rPr lang="en-IN" altLang="en-US" sz="1200">
                <a:solidFill>
                  <a:srgbClr val="898989"/>
                </a:solidFill>
                <a:latin typeface="Times New Roman" panose="02020603050405020304" pitchFamily="18" charset="0"/>
                <a:cs typeface="Times New Roman" panose="02020603050405020304" pitchFamily="18" charset="0"/>
              </a:rPr>
              <a:pPr>
                <a:lnSpc>
                  <a:spcPct val="100000"/>
                </a:lnSpc>
                <a:spcBef>
                  <a:spcPct val="0"/>
                </a:spcBef>
                <a:buFontTx/>
                <a:buNone/>
              </a:pPr>
              <a:t>3</a:t>
            </a:fld>
            <a:endParaRPr lang="en-IN" altLang="en-US" sz="1200">
              <a:solidFill>
                <a:srgbClr val="898989"/>
              </a:solidFill>
              <a:latin typeface="Times New Roman" panose="02020603050405020304" pitchFamily="18" charset="0"/>
              <a:cs typeface="Times New Roman" panose="02020603050405020304" pitchFamily="18" charset="0"/>
            </a:endParaRPr>
          </a:p>
        </p:txBody>
      </p:sp>
      <p:sp>
        <p:nvSpPr>
          <p:cNvPr id="12" name="Footer Placeholder 11">
            <a:extLst>
              <a:ext uri="{FF2B5EF4-FFF2-40B4-BE49-F238E27FC236}">
                <a16:creationId xmlns:a16="http://schemas.microsoft.com/office/drawing/2014/main" id="{CB511168-25A2-4741-B057-1267CFDF11D6}"/>
              </a:ext>
            </a:extLst>
          </p:cNvPr>
          <p:cNvSpPr>
            <a:spLocks noGrp="1"/>
          </p:cNvSpPr>
          <p:nvPr>
            <p:ph type="ftr" sz="quarter" idx="10"/>
          </p:nvPr>
        </p:nvSpPr>
        <p:spPr>
          <a:xfrm>
            <a:off x="254000" y="6024563"/>
            <a:ext cx="6950075" cy="588962"/>
          </a:xfrm>
        </p:spPr>
        <p:txBody>
          <a:bodyPr/>
          <a:lstStyle/>
          <a:p>
            <a:pPr>
              <a:defRPr/>
            </a:pPr>
            <a:r>
              <a:rPr lang="en-US" dirty="0">
                <a:latin typeface="Times New Roman" panose="02020603050405020304" pitchFamily="18" charset="0"/>
                <a:cs typeface="Times New Roman" panose="02020603050405020304" pitchFamily="18" charset="0"/>
              </a:rPr>
              <a:t>Dept of CSE,GAT                                                                                                    2024-25                                                                                                                                                                        </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24745-0531-1173-D75D-70DD257920A8}"/>
            </a:ext>
          </a:extLst>
        </p:cNvPr>
        <p:cNvGrpSpPr/>
        <p:nvPr/>
      </p:nvGrpSpPr>
      <p:grpSpPr>
        <a:xfrm>
          <a:off x="0" y="0"/>
          <a:ext cx="0" cy="0"/>
          <a:chOff x="0" y="0"/>
          <a:chExt cx="0" cy="0"/>
        </a:xfrm>
      </p:grpSpPr>
      <p:sp>
        <p:nvSpPr>
          <p:cNvPr id="10242" name="Title 1">
            <a:extLst>
              <a:ext uri="{FF2B5EF4-FFF2-40B4-BE49-F238E27FC236}">
                <a16:creationId xmlns:a16="http://schemas.microsoft.com/office/drawing/2014/main" id="{D14C3CF0-7756-3806-6150-909E87352F16}"/>
              </a:ext>
            </a:extLst>
          </p:cNvPr>
          <p:cNvSpPr>
            <a:spLocks noGrp="1"/>
          </p:cNvSpPr>
          <p:nvPr>
            <p:ph type="title"/>
          </p:nvPr>
        </p:nvSpPr>
        <p:spPr/>
        <p:txBody>
          <a:bodyPr/>
          <a:lstStyle/>
          <a:p>
            <a:pPr eaLnBrk="1" hangingPunct="1"/>
            <a:r>
              <a:rPr lang="en-IN" altLang="en-US" sz="4000" b="1">
                <a:latin typeface="Times New Roman" panose="02020603050405020304" pitchFamily="18" charset="0"/>
                <a:cs typeface="Times New Roman" panose="02020603050405020304" pitchFamily="18" charset="0"/>
              </a:rPr>
              <a:t>Introduction</a:t>
            </a:r>
          </a:p>
        </p:txBody>
      </p:sp>
      <p:sp>
        <p:nvSpPr>
          <p:cNvPr id="10243" name="Content Placeholder 2">
            <a:extLst>
              <a:ext uri="{FF2B5EF4-FFF2-40B4-BE49-F238E27FC236}">
                <a16:creationId xmlns:a16="http://schemas.microsoft.com/office/drawing/2014/main" id="{0051E19F-9E1D-C92B-D0F2-806659EF3D27}"/>
              </a:ext>
            </a:extLst>
          </p:cNvPr>
          <p:cNvSpPr>
            <a:spLocks noGrp="1"/>
          </p:cNvSpPr>
          <p:nvPr>
            <p:ph idx="1"/>
          </p:nvPr>
        </p:nvSpPr>
        <p:spPr/>
        <p:txBody>
          <a:bodyPr/>
          <a:lstStyle/>
          <a:p>
            <a:pPr algn="just" eaLnBrk="1" hangingPunct="1"/>
            <a:r>
              <a:rPr lang="en-IN" altLang="en-US" sz="2400" dirty="0">
                <a:latin typeface="Times New Roman" panose="02020603050405020304" pitchFamily="18" charset="0"/>
                <a:cs typeface="Times New Roman" panose="02020603050405020304" pitchFamily="18" charset="0"/>
              </a:rPr>
              <a:t>By integrating live ambulance tracking, AI-based hospital selection, real-time patient data transmission, and automated traffic signal management, it ensures faster ambulance dispatch and better hospital preparedness, ultimately aiming to reduce mortality and improve outcomes. </a:t>
            </a:r>
          </a:p>
          <a:p>
            <a:pPr eaLnBrk="1" hangingPunct="1"/>
            <a:endParaRPr lang="en-IN" altLang="en-US" sz="3200" dirty="0">
              <a:latin typeface="Times New Roman" panose="02020603050405020304" pitchFamily="18" charset="0"/>
              <a:cs typeface="Times New Roman" panose="02020603050405020304" pitchFamily="18" charset="0"/>
            </a:endParaRPr>
          </a:p>
        </p:txBody>
      </p:sp>
      <p:sp>
        <p:nvSpPr>
          <p:cNvPr id="10244" name="Slide Number Placeholder 9">
            <a:extLst>
              <a:ext uri="{FF2B5EF4-FFF2-40B4-BE49-F238E27FC236}">
                <a16:creationId xmlns:a16="http://schemas.microsoft.com/office/drawing/2014/main" id="{67F3B920-1043-DCF7-09A2-21EF03E8D298}"/>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7D19951E-5230-0E43-A174-B267F0D4451A}" type="slidenum">
              <a:rPr lang="en-IN" altLang="en-US" sz="1200">
                <a:solidFill>
                  <a:srgbClr val="898989"/>
                </a:solidFill>
                <a:latin typeface="Times New Roman" panose="02020603050405020304" pitchFamily="18" charset="0"/>
                <a:cs typeface="Times New Roman" panose="02020603050405020304" pitchFamily="18" charset="0"/>
              </a:rPr>
              <a:pPr>
                <a:lnSpc>
                  <a:spcPct val="100000"/>
                </a:lnSpc>
                <a:spcBef>
                  <a:spcPct val="0"/>
                </a:spcBef>
                <a:buFontTx/>
                <a:buNone/>
              </a:pPr>
              <a:t>4</a:t>
            </a:fld>
            <a:endParaRPr lang="en-IN" altLang="en-US" sz="1200">
              <a:solidFill>
                <a:srgbClr val="898989"/>
              </a:solidFill>
              <a:latin typeface="Times New Roman" panose="02020603050405020304" pitchFamily="18" charset="0"/>
              <a:cs typeface="Times New Roman" panose="02020603050405020304" pitchFamily="18" charset="0"/>
            </a:endParaRPr>
          </a:p>
        </p:txBody>
      </p:sp>
      <p:sp>
        <p:nvSpPr>
          <p:cNvPr id="12" name="Footer Placeholder 11">
            <a:extLst>
              <a:ext uri="{FF2B5EF4-FFF2-40B4-BE49-F238E27FC236}">
                <a16:creationId xmlns:a16="http://schemas.microsoft.com/office/drawing/2014/main" id="{2CFF0A12-442F-AAA2-FD7A-1682753C118F}"/>
              </a:ext>
            </a:extLst>
          </p:cNvPr>
          <p:cNvSpPr>
            <a:spLocks noGrp="1"/>
          </p:cNvSpPr>
          <p:nvPr>
            <p:ph type="ftr" sz="quarter" idx="10"/>
          </p:nvPr>
        </p:nvSpPr>
        <p:spPr>
          <a:xfrm>
            <a:off x="254000" y="6024563"/>
            <a:ext cx="6950075" cy="588962"/>
          </a:xfrm>
        </p:spPr>
        <p:txBody>
          <a:bodyPr/>
          <a:lstStyle/>
          <a:p>
            <a:pPr>
              <a:defRPr/>
            </a:pPr>
            <a:r>
              <a:rPr lang="en-US" dirty="0">
                <a:latin typeface="Times New Roman" panose="02020603050405020304" pitchFamily="18" charset="0"/>
                <a:cs typeface="Times New Roman" panose="02020603050405020304" pitchFamily="18" charset="0"/>
              </a:rPr>
              <a:t>Dept of CSE,GAT                                                                                                    2024-25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7769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E8873705-7360-4BFD-F79F-204928DC6B0D}"/>
              </a:ext>
            </a:extLst>
          </p:cNvPr>
          <p:cNvSpPr>
            <a:spLocks noGrp="1"/>
          </p:cNvSpPr>
          <p:nvPr>
            <p:ph type="title"/>
          </p:nvPr>
        </p:nvSpPr>
        <p:spPr/>
        <p:txBody>
          <a:bodyPr/>
          <a:lstStyle/>
          <a:p>
            <a:pPr eaLnBrk="1" hangingPunct="1"/>
            <a:r>
              <a:rPr lang="en-IN" altLang="en-US" sz="4000" b="1"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D50B7882-024E-44C8-BB39-0FDA6AA8CB65}"/>
              </a:ext>
            </a:extLst>
          </p:cNvPr>
          <p:cNvSpPr>
            <a:spLocks noGrp="1"/>
          </p:cNvSpPr>
          <p:nvPr>
            <p:ph idx="1"/>
          </p:nvPr>
        </p:nvSpPr>
        <p:spPr/>
        <p:txBody>
          <a:bodyPr rtlCol="0">
            <a:normAutofit fontScale="92500"/>
          </a:bodyPr>
          <a:lstStyle/>
          <a:p>
            <a:r>
              <a:rPr lang="en-IN" sz="2600" b="1" dirty="0">
                <a:latin typeface="Times New Roman" panose="02020603050405020304" pitchFamily="18" charset="0"/>
                <a:cs typeface="Times New Roman" panose="02020603050405020304" pitchFamily="18" charset="0"/>
              </a:rPr>
              <a:t>Inefficient Dispatch:</a:t>
            </a:r>
            <a:br>
              <a:rPr lang="en-IN" sz="2600" dirty="0">
                <a:latin typeface="Times New Roman" panose="02020603050405020304" pitchFamily="18" charset="0"/>
                <a:cs typeface="Times New Roman" panose="02020603050405020304" pitchFamily="18" charset="0"/>
              </a:rPr>
            </a:br>
            <a:r>
              <a:rPr lang="en-IN" sz="2600" dirty="0">
                <a:latin typeface="Times New Roman" panose="02020603050405020304" pitchFamily="18" charset="0"/>
                <a:cs typeface="Times New Roman" panose="02020603050405020304" pitchFamily="18" charset="0"/>
              </a:rPr>
              <a:t>Manual ambulance allocation leads to delayed emergency response times.</a:t>
            </a:r>
          </a:p>
          <a:p>
            <a:r>
              <a:rPr lang="en-IN" sz="2600" b="1" dirty="0">
                <a:latin typeface="Times New Roman" panose="02020603050405020304" pitchFamily="18" charset="0"/>
                <a:cs typeface="Times New Roman" panose="02020603050405020304" pitchFamily="18" charset="0"/>
              </a:rPr>
              <a:t>Lack of Real-Time Data:</a:t>
            </a:r>
            <a:br>
              <a:rPr lang="en-IN" sz="2600" b="1" dirty="0">
                <a:latin typeface="Times New Roman" panose="02020603050405020304" pitchFamily="18" charset="0"/>
                <a:cs typeface="Times New Roman" panose="02020603050405020304" pitchFamily="18" charset="0"/>
              </a:rPr>
            </a:br>
            <a:r>
              <a:rPr lang="en-IN" sz="2600" dirty="0">
                <a:latin typeface="Times New Roman" panose="02020603050405020304" pitchFamily="18" charset="0"/>
                <a:cs typeface="Times New Roman" panose="02020603050405020304" pitchFamily="18" charset="0"/>
              </a:rPr>
              <a:t>Hospitals receive patients without vital signs or medical history during transit.</a:t>
            </a:r>
          </a:p>
          <a:p>
            <a:r>
              <a:rPr lang="en-IN" sz="2600" b="1" dirty="0">
                <a:latin typeface="Times New Roman" panose="02020603050405020304" pitchFamily="18" charset="0"/>
                <a:cs typeface="Times New Roman" panose="02020603050405020304" pitchFamily="18" charset="0"/>
              </a:rPr>
              <a:t>Traffic Delays:</a:t>
            </a:r>
            <a:br>
              <a:rPr lang="en-IN" sz="2600" dirty="0">
                <a:latin typeface="Times New Roman" panose="02020603050405020304" pitchFamily="18" charset="0"/>
                <a:cs typeface="Times New Roman" panose="02020603050405020304" pitchFamily="18" charset="0"/>
              </a:rPr>
            </a:br>
            <a:r>
              <a:rPr lang="en-IN" sz="2600" dirty="0">
                <a:latin typeface="Times New Roman" panose="02020603050405020304" pitchFamily="18" charset="0"/>
                <a:cs typeface="Times New Roman" panose="02020603050405020304" pitchFamily="18" charset="0"/>
              </a:rPr>
              <a:t>Static traffic systems fail to prioritize ambulances, increasing transport time.</a:t>
            </a:r>
          </a:p>
          <a:p>
            <a:r>
              <a:rPr lang="en-IN" sz="2600" b="1" dirty="0">
                <a:latin typeface="Times New Roman" panose="02020603050405020304" pitchFamily="18" charset="0"/>
                <a:cs typeface="Times New Roman" panose="02020603050405020304" pitchFamily="18" charset="0"/>
              </a:rPr>
              <a:t>Suboptimal Hospital Selection:</a:t>
            </a:r>
            <a:br>
              <a:rPr lang="en-IN" sz="2600" dirty="0">
                <a:latin typeface="Times New Roman" panose="02020603050405020304" pitchFamily="18" charset="0"/>
                <a:cs typeface="Times New Roman" panose="02020603050405020304" pitchFamily="18" charset="0"/>
              </a:rPr>
            </a:br>
            <a:r>
              <a:rPr lang="en-IN" sz="2600" dirty="0">
                <a:latin typeface="Times New Roman" panose="02020603050405020304" pitchFamily="18" charset="0"/>
                <a:cs typeface="Times New Roman" panose="02020603050405020304" pitchFamily="18" charset="0"/>
              </a:rPr>
              <a:t>Ambulances choose hospitals based only on proximity, ignoring specialization/bed availability.</a:t>
            </a:r>
          </a:p>
          <a:p>
            <a:r>
              <a:rPr lang="en-IN" sz="2600" b="1" dirty="0">
                <a:latin typeface="Times New Roman" panose="02020603050405020304" pitchFamily="18" charset="0"/>
                <a:cs typeface="Times New Roman" panose="02020603050405020304" pitchFamily="18" charset="0"/>
              </a:rPr>
              <a:t>Rural Disadvantage:</a:t>
            </a:r>
            <a:br>
              <a:rPr lang="en-IN" sz="2600" dirty="0">
                <a:latin typeface="Times New Roman" panose="02020603050405020304" pitchFamily="18" charset="0"/>
                <a:cs typeface="Times New Roman" panose="02020603050405020304" pitchFamily="18" charset="0"/>
              </a:rPr>
            </a:br>
            <a:r>
              <a:rPr lang="en-IN" sz="2600" dirty="0">
                <a:latin typeface="Times New Roman" panose="02020603050405020304" pitchFamily="18" charset="0"/>
                <a:cs typeface="Times New Roman" panose="02020603050405020304" pitchFamily="18" charset="0"/>
              </a:rPr>
              <a:t>Limited infrastructure and distance amplify these challenges in non-urban areas.</a:t>
            </a:r>
          </a:p>
          <a:p>
            <a:pPr marL="0" indent="0" eaLnBrk="1" fontAlgn="auto" hangingPunct="1">
              <a:spcAft>
                <a:spcPts val="0"/>
              </a:spcAft>
              <a:buFont typeface="Arial" panose="020B0604020202020204" pitchFamily="34" charset="0"/>
              <a:buNone/>
              <a:defRPr/>
            </a:pPr>
            <a:endParaRPr lang="en-IN" sz="3200" dirty="0">
              <a:latin typeface="Times New Roman" panose="02020603050405020304" pitchFamily="18" charset="0"/>
              <a:cs typeface="Times New Roman" panose="02020603050405020304" pitchFamily="18" charset="0"/>
            </a:endParaRPr>
          </a:p>
        </p:txBody>
      </p:sp>
      <p:sp>
        <p:nvSpPr>
          <p:cNvPr id="11268" name="Slide Number Placeholder 8">
            <a:extLst>
              <a:ext uri="{FF2B5EF4-FFF2-40B4-BE49-F238E27FC236}">
                <a16:creationId xmlns:a16="http://schemas.microsoft.com/office/drawing/2014/main" id="{0057B1F9-33DA-67EC-EEB4-49C83B936F3E}"/>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7718868B-24B6-D749-8C9D-9EE6D656B830}" type="slidenum">
              <a:rPr lang="en-IN" altLang="en-US" sz="1200">
                <a:solidFill>
                  <a:srgbClr val="898989"/>
                </a:solidFill>
                <a:latin typeface="Times New Roman" panose="02020603050405020304" pitchFamily="18" charset="0"/>
                <a:cs typeface="Times New Roman" panose="02020603050405020304" pitchFamily="18" charset="0"/>
              </a:rPr>
              <a:pPr>
                <a:lnSpc>
                  <a:spcPct val="100000"/>
                </a:lnSpc>
                <a:spcBef>
                  <a:spcPct val="0"/>
                </a:spcBef>
                <a:buFontTx/>
                <a:buNone/>
              </a:pPr>
              <a:t>5</a:t>
            </a:fld>
            <a:endParaRPr lang="en-IN" altLang="en-US" sz="1200">
              <a:solidFill>
                <a:srgbClr val="898989"/>
              </a:solidFill>
              <a:latin typeface="Times New Roman" panose="02020603050405020304" pitchFamily="18" charset="0"/>
              <a:cs typeface="Times New Roman" panose="02020603050405020304" pitchFamily="18" charset="0"/>
            </a:endParaRPr>
          </a:p>
        </p:txBody>
      </p:sp>
      <p:sp>
        <p:nvSpPr>
          <p:cNvPr id="10" name="Footer Placeholder 9">
            <a:extLst>
              <a:ext uri="{FF2B5EF4-FFF2-40B4-BE49-F238E27FC236}">
                <a16:creationId xmlns:a16="http://schemas.microsoft.com/office/drawing/2014/main" id="{643F6DC9-01B5-4E06-BACE-BA33FAA559CB}"/>
              </a:ext>
            </a:extLst>
          </p:cNvPr>
          <p:cNvSpPr>
            <a:spLocks noGrp="1"/>
          </p:cNvSpPr>
          <p:nvPr>
            <p:ph type="ftr" sz="quarter" idx="10"/>
          </p:nvPr>
        </p:nvSpPr>
        <p:spPr>
          <a:xfrm>
            <a:off x="346075" y="6091238"/>
            <a:ext cx="6724650" cy="512762"/>
          </a:xfrm>
        </p:spPr>
        <p:txBody>
          <a:bodyPr/>
          <a:lstStyle/>
          <a:p>
            <a:pPr>
              <a:defRPr/>
            </a:pPr>
            <a:r>
              <a:rPr lang="en-US" dirty="0">
                <a:latin typeface="Times New Roman" panose="02020603050405020304" pitchFamily="18" charset="0"/>
                <a:cs typeface="Times New Roman" panose="02020603050405020304" pitchFamily="18" charset="0"/>
              </a:rPr>
              <a:t>Dept of CSE,GAT                                                                                                    2024-25                                                                                                                                                                        </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966E12D7-F161-8DB9-3590-520BCFF45E99}"/>
              </a:ext>
            </a:extLst>
          </p:cNvPr>
          <p:cNvSpPr>
            <a:spLocks noGrp="1"/>
          </p:cNvSpPr>
          <p:nvPr>
            <p:ph type="title"/>
          </p:nvPr>
        </p:nvSpPr>
        <p:spPr/>
        <p:txBody>
          <a:bodyPr/>
          <a:lstStyle/>
          <a:p>
            <a:pPr eaLnBrk="1" hangingPunct="1"/>
            <a:r>
              <a:rPr lang="en-IN" altLang="en-US" sz="4000" b="1" dirty="0">
                <a:latin typeface="Times New Roman" panose="02020603050405020304" pitchFamily="18" charset="0"/>
                <a:cs typeface="Times New Roman" panose="02020603050405020304" pitchFamily="18" charset="0"/>
              </a:rPr>
              <a:t>Objectives </a:t>
            </a:r>
          </a:p>
        </p:txBody>
      </p:sp>
      <p:sp>
        <p:nvSpPr>
          <p:cNvPr id="13315" name="Content Placeholder 2">
            <a:extLst>
              <a:ext uri="{FF2B5EF4-FFF2-40B4-BE49-F238E27FC236}">
                <a16:creationId xmlns:a16="http://schemas.microsoft.com/office/drawing/2014/main" id="{4FA22257-E0A2-6038-719E-5B62CB68FC05}"/>
              </a:ext>
            </a:extLst>
          </p:cNvPr>
          <p:cNvSpPr>
            <a:spLocks noGrp="1"/>
          </p:cNvSpPr>
          <p:nvPr>
            <p:ph idx="1"/>
          </p:nvPr>
        </p:nvSpPr>
        <p:spPr/>
        <p:txBody>
          <a:bodyPr/>
          <a:lstStyle/>
          <a:p>
            <a:r>
              <a:rPr lang="en-GB" sz="2400" dirty="0"/>
              <a:t>Develop an AI and IoT-enabled system that ensures immediate dispatch of the nearest available ambulance to accident locations.</a:t>
            </a:r>
          </a:p>
          <a:p>
            <a:r>
              <a:rPr lang="en-GB" sz="2400" dirty="0"/>
              <a:t>Use IoT-integrated medical devices inside ambulances to continuously monitor and transmit patient vitals (like heart rate, BP, SpO2) to the destination hospital in real time.</a:t>
            </a:r>
          </a:p>
          <a:p>
            <a:r>
              <a:rPr lang="en-GB" sz="2400" dirty="0"/>
              <a:t>Design a dynamic traffic management system that can automatically control traffic signals, creating green corridors for ambulances to pass through congested city routes without delay.</a:t>
            </a:r>
          </a:p>
          <a:p>
            <a:r>
              <a:rPr lang="en-GB" sz="2400" dirty="0"/>
              <a:t>Leverage AI-based decision-making algorithms to recommend the most suitable hospital based on factors like distance, specialization, hospital capacity, and patient condition, while also sending advance alerts to hospitals for timely preparation before the patient arrives.</a:t>
            </a:r>
          </a:p>
          <a:p>
            <a:pPr eaLnBrk="1" hangingPunct="1"/>
            <a:endParaRPr lang="en-IN" altLang="en-US" dirty="0">
              <a:latin typeface="Times New Roman" panose="02020603050405020304" pitchFamily="18" charset="0"/>
              <a:cs typeface="Times New Roman" panose="02020603050405020304" pitchFamily="18" charset="0"/>
            </a:endParaRPr>
          </a:p>
          <a:p>
            <a:pPr eaLnBrk="1" hangingPunct="1"/>
            <a:endParaRPr lang="en-IN" altLang="en-US" dirty="0">
              <a:latin typeface="Times New Roman" panose="02020603050405020304" pitchFamily="18" charset="0"/>
              <a:cs typeface="Times New Roman" panose="02020603050405020304" pitchFamily="18" charset="0"/>
            </a:endParaRPr>
          </a:p>
        </p:txBody>
      </p:sp>
      <p:sp>
        <p:nvSpPr>
          <p:cNvPr id="13316" name="Slide Number Placeholder 8">
            <a:extLst>
              <a:ext uri="{FF2B5EF4-FFF2-40B4-BE49-F238E27FC236}">
                <a16:creationId xmlns:a16="http://schemas.microsoft.com/office/drawing/2014/main" id="{7F249A79-C53F-EFF7-9DC6-39318D57E01C}"/>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040AB1B6-32F1-7349-BF65-6C4180F9BBE7}" type="slidenum">
              <a:rPr lang="en-IN" altLang="en-US" sz="1200">
                <a:solidFill>
                  <a:srgbClr val="898989"/>
                </a:solidFill>
                <a:latin typeface="Times New Roman" panose="02020603050405020304" pitchFamily="18" charset="0"/>
                <a:cs typeface="Times New Roman" panose="02020603050405020304" pitchFamily="18" charset="0"/>
              </a:rPr>
              <a:pPr>
                <a:lnSpc>
                  <a:spcPct val="100000"/>
                </a:lnSpc>
                <a:spcBef>
                  <a:spcPct val="0"/>
                </a:spcBef>
                <a:buFontTx/>
                <a:buNone/>
              </a:pPr>
              <a:t>6</a:t>
            </a:fld>
            <a:endParaRPr lang="en-IN" altLang="en-US" sz="1200">
              <a:solidFill>
                <a:srgbClr val="898989"/>
              </a:solidFill>
              <a:latin typeface="Times New Roman" panose="02020603050405020304" pitchFamily="18" charset="0"/>
              <a:cs typeface="Times New Roman" panose="02020603050405020304" pitchFamily="18" charset="0"/>
            </a:endParaRPr>
          </a:p>
        </p:txBody>
      </p:sp>
      <p:sp>
        <p:nvSpPr>
          <p:cNvPr id="10" name="Footer Placeholder 9">
            <a:extLst>
              <a:ext uri="{FF2B5EF4-FFF2-40B4-BE49-F238E27FC236}">
                <a16:creationId xmlns:a16="http://schemas.microsoft.com/office/drawing/2014/main" id="{4CBE9510-9E12-41A5-B572-0C638F7C32A1}"/>
              </a:ext>
            </a:extLst>
          </p:cNvPr>
          <p:cNvSpPr>
            <a:spLocks noGrp="1"/>
          </p:cNvSpPr>
          <p:nvPr>
            <p:ph type="ftr" sz="quarter" idx="10"/>
          </p:nvPr>
        </p:nvSpPr>
        <p:spPr>
          <a:xfrm>
            <a:off x="152400" y="6176963"/>
            <a:ext cx="8001000" cy="544512"/>
          </a:xfrm>
        </p:spPr>
        <p:txBody>
          <a:bodyPr/>
          <a:lstStyle/>
          <a:p>
            <a:pPr>
              <a:defRPr/>
            </a:pPr>
            <a:r>
              <a:rPr lang="en-US">
                <a:latin typeface="Times New Roman" panose="02020603050405020304" pitchFamily="18" charset="0"/>
                <a:cs typeface="Times New Roman" panose="02020603050405020304" pitchFamily="18" charset="0"/>
              </a:rPr>
              <a:t>Dept of CSE,GAT                                                                                                    2024-25                                                                                                                                                                        </a:t>
            </a:r>
            <a:endParaRPr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7F98FF95-4F31-76E0-F640-C0C49263297A}"/>
              </a:ext>
            </a:extLst>
          </p:cNvPr>
          <p:cNvSpPr>
            <a:spLocks noGrp="1"/>
          </p:cNvSpPr>
          <p:nvPr>
            <p:ph type="title"/>
          </p:nvPr>
        </p:nvSpPr>
        <p:spPr/>
        <p:txBody>
          <a:bodyPr/>
          <a:lstStyle/>
          <a:p>
            <a:pPr eaLnBrk="1" hangingPunct="1"/>
            <a:r>
              <a:rPr lang="en-IN" altLang="en-US" sz="4000" b="1">
                <a:latin typeface="Times New Roman" panose="02020603050405020304" pitchFamily="18" charset="0"/>
                <a:cs typeface="Times New Roman" panose="02020603050405020304" pitchFamily="18" charset="0"/>
              </a:rPr>
              <a:t>Literature Survey</a:t>
            </a:r>
          </a:p>
        </p:txBody>
      </p:sp>
      <p:sp>
        <p:nvSpPr>
          <p:cNvPr id="11267" name="Content Placeholder 2">
            <a:extLst>
              <a:ext uri="{FF2B5EF4-FFF2-40B4-BE49-F238E27FC236}">
                <a16:creationId xmlns:a16="http://schemas.microsoft.com/office/drawing/2014/main" id="{37EA8807-814E-434E-A854-959DC39AE197}"/>
              </a:ext>
            </a:extLst>
          </p:cNvPr>
          <p:cNvSpPr>
            <a:spLocks noGrp="1"/>
          </p:cNvSpPr>
          <p:nvPr>
            <p:ph idx="1"/>
          </p:nvPr>
        </p:nvSpPr>
        <p:spPr>
          <a:xfrm>
            <a:off x="838200" y="1456915"/>
            <a:ext cx="10515600" cy="1551756"/>
          </a:xfrm>
        </p:spPr>
        <p:txBody>
          <a:bodyPr/>
          <a:lstStyle/>
          <a:p>
            <a:pPr marL="0" indent="0" eaLnBrk="1" hangingPunct="1">
              <a:buNone/>
              <a:defRPr/>
            </a:pPr>
            <a:endParaRPr lang="en-IN" altLang="en-US" dirty="0">
              <a:latin typeface="Times New Roman" panose="02020603050405020304" pitchFamily="18" charset="0"/>
              <a:cs typeface="Times New Roman" panose="02020603050405020304" pitchFamily="18" charset="0"/>
            </a:endParaRPr>
          </a:p>
        </p:txBody>
      </p:sp>
      <p:sp>
        <p:nvSpPr>
          <p:cNvPr id="12292" name="Slide Number Placeholder 7">
            <a:extLst>
              <a:ext uri="{FF2B5EF4-FFF2-40B4-BE49-F238E27FC236}">
                <a16:creationId xmlns:a16="http://schemas.microsoft.com/office/drawing/2014/main" id="{C58D7653-6B91-7C34-C165-C35B57F5382A}"/>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EE1AE39C-A8DF-3940-9207-1DF0B8EDDAF4}" type="slidenum">
              <a:rPr lang="en-IN" altLang="en-US" sz="1200">
                <a:solidFill>
                  <a:srgbClr val="898989"/>
                </a:solidFill>
                <a:latin typeface="Times New Roman" panose="02020603050405020304" pitchFamily="18" charset="0"/>
                <a:cs typeface="Times New Roman" panose="02020603050405020304" pitchFamily="18" charset="0"/>
              </a:rPr>
              <a:pPr>
                <a:lnSpc>
                  <a:spcPct val="100000"/>
                </a:lnSpc>
                <a:spcBef>
                  <a:spcPct val="0"/>
                </a:spcBef>
                <a:buFontTx/>
                <a:buNone/>
              </a:pPr>
              <a:t>7</a:t>
            </a:fld>
            <a:endParaRPr lang="en-IN" altLang="en-US" sz="1200">
              <a:solidFill>
                <a:srgbClr val="898989"/>
              </a:solidFill>
              <a:latin typeface="Times New Roman" panose="02020603050405020304" pitchFamily="18" charset="0"/>
              <a:cs typeface="Times New Roman" panose="02020603050405020304" pitchFamily="18" charset="0"/>
            </a:endParaRPr>
          </a:p>
        </p:txBody>
      </p:sp>
      <p:sp>
        <p:nvSpPr>
          <p:cNvPr id="9" name="Footer Placeholder 8">
            <a:extLst>
              <a:ext uri="{FF2B5EF4-FFF2-40B4-BE49-F238E27FC236}">
                <a16:creationId xmlns:a16="http://schemas.microsoft.com/office/drawing/2014/main" id="{4F07B2A9-7E37-459D-B6CA-3EE221E02532}"/>
              </a:ext>
            </a:extLst>
          </p:cNvPr>
          <p:cNvSpPr>
            <a:spLocks noGrp="1"/>
          </p:cNvSpPr>
          <p:nvPr>
            <p:ph type="ftr" sz="quarter" idx="10"/>
          </p:nvPr>
        </p:nvSpPr>
        <p:spPr>
          <a:xfrm>
            <a:off x="0" y="6308725"/>
            <a:ext cx="7904163" cy="412750"/>
          </a:xfrm>
        </p:spPr>
        <p:txBody>
          <a:bodyPr/>
          <a:lstStyle/>
          <a:p>
            <a:pPr>
              <a:defRPr/>
            </a:pPr>
            <a:r>
              <a:rPr lang="en-US" dirty="0">
                <a:latin typeface="Times New Roman" panose="02020603050405020304" pitchFamily="18" charset="0"/>
                <a:cs typeface="Times New Roman" panose="02020603050405020304" pitchFamily="18" charset="0"/>
              </a:rPr>
              <a:t>Dept of CSE,GAT                                                                                                    2024-25                                                                                                                                                                        </a:t>
            </a:r>
            <a:endParaRPr lang="en-IN"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C0A3A2E5-7261-FBB0-BCF2-40185417602A}"/>
              </a:ext>
            </a:extLst>
          </p:cNvPr>
          <p:cNvGraphicFramePr>
            <a:graphicFrameLocks noGrp="1"/>
          </p:cNvGraphicFramePr>
          <p:nvPr>
            <p:extLst>
              <p:ext uri="{D42A27DB-BD31-4B8C-83A1-F6EECF244321}">
                <p14:modId xmlns:p14="http://schemas.microsoft.com/office/powerpoint/2010/main" val="1407672286"/>
              </p:ext>
            </p:extLst>
          </p:nvPr>
        </p:nvGraphicFramePr>
        <p:xfrm>
          <a:off x="658813" y="1456916"/>
          <a:ext cx="10694987" cy="4680472"/>
        </p:xfrm>
        <a:graphic>
          <a:graphicData uri="http://schemas.openxmlformats.org/drawingml/2006/table">
            <a:tbl>
              <a:tblPr firstRow="1" bandRow="1">
                <a:tableStyleId>{5C22544A-7EE6-4342-B048-85BDC9FD1C3A}</a:tableStyleId>
              </a:tblPr>
              <a:tblGrid>
                <a:gridCol w="598260">
                  <a:extLst>
                    <a:ext uri="{9D8B030D-6E8A-4147-A177-3AD203B41FA5}">
                      <a16:colId xmlns:a16="http://schemas.microsoft.com/office/drawing/2014/main" val="3574709401"/>
                    </a:ext>
                  </a:extLst>
                </a:gridCol>
                <a:gridCol w="1873708">
                  <a:extLst>
                    <a:ext uri="{9D8B030D-6E8A-4147-A177-3AD203B41FA5}">
                      <a16:colId xmlns:a16="http://schemas.microsoft.com/office/drawing/2014/main" val="848083800"/>
                    </a:ext>
                  </a:extLst>
                </a:gridCol>
                <a:gridCol w="2649354">
                  <a:extLst>
                    <a:ext uri="{9D8B030D-6E8A-4147-A177-3AD203B41FA5}">
                      <a16:colId xmlns:a16="http://schemas.microsoft.com/office/drawing/2014/main" val="1708821697"/>
                    </a:ext>
                  </a:extLst>
                </a:gridCol>
                <a:gridCol w="3287157">
                  <a:extLst>
                    <a:ext uri="{9D8B030D-6E8A-4147-A177-3AD203B41FA5}">
                      <a16:colId xmlns:a16="http://schemas.microsoft.com/office/drawing/2014/main" val="2669523253"/>
                    </a:ext>
                  </a:extLst>
                </a:gridCol>
                <a:gridCol w="2286508">
                  <a:extLst>
                    <a:ext uri="{9D8B030D-6E8A-4147-A177-3AD203B41FA5}">
                      <a16:colId xmlns:a16="http://schemas.microsoft.com/office/drawing/2014/main" val="2358187058"/>
                    </a:ext>
                  </a:extLst>
                </a:gridCol>
              </a:tblGrid>
              <a:tr h="1477687">
                <a:tc>
                  <a:txBody>
                    <a:bodyPr/>
                    <a:lstStyle/>
                    <a:p>
                      <a:pPr algn="ctr"/>
                      <a:r>
                        <a:rPr lang="en-US" sz="1800" dirty="0">
                          <a:latin typeface="Cambria" panose="02040503050406030204" pitchFamily="18" charset="0"/>
                          <a:ea typeface="Cambria" panose="02040503050406030204" pitchFamily="18" charset="0"/>
                        </a:rPr>
                        <a:t>Sl. #</a:t>
                      </a:r>
                    </a:p>
                  </a:txBody>
                  <a:tcPr marL="91453" marR="91453" marT="45731" marB="4573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Title and Author</a:t>
                      </a:r>
                    </a:p>
                  </a:txBody>
                  <a:tcPr marL="91453" marR="91453" marT="45731" marB="45731"/>
                </a:tc>
                <a:tc>
                  <a:txBody>
                    <a:bodyPr/>
                    <a:lstStyle/>
                    <a:p>
                      <a:pPr algn="ctr"/>
                      <a:r>
                        <a:rPr lang="en-US" sz="1800" dirty="0">
                          <a:latin typeface="Cambria" panose="02040503050406030204" pitchFamily="18" charset="0"/>
                          <a:ea typeface="Cambria" panose="02040503050406030204" pitchFamily="18" charset="0"/>
                        </a:rPr>
                        <a:t>Scopus/SCI</a:t>
                      </a:r>
                    </a:p>
                    <a:p>
                      <a:pPr algn="ctr"/>
                      <a:r>
                        <a:rPr lang="en-US" sz="1800" dirty="0">
                          <a:latin typeface="Cambria" panose="02040503050406030204" pitchFamily="18" charset="0"/>
                          <a:ea typeface="Cambria" panose="02040503050406030204" pitchFamily="18" charset="0"/>
                        </a:rPr>
                        <a:t>Date of Publication</a:t>
                      </a:r>
                    </a:p>
                  </a:txBody>
                  <a:tcPr marL="91453" marR="91453" marT="45731" marB="4573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Dataset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 and Methodology Used</a:t>
                      </a:r>
                    </a:p>
                  </a:txBody>
                  <a:tcPr marL="91453" marR="91453" marT="45731" marB="4573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Research Gap</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Identified/Limitation</a:t>
                      </a:r>
                    </a:p>
                  </a:txBody>
                  <a:tcPr marL="91453" marR="91453" marT="45731" marB="45731"/>
                </a:tc>
                <a:extLst>
                  <a:ext uri="{0D108BD9-81ED-4DB2-BD59-A6C34878D82A}">
                    <a16:rowId xmlns:a16="http://schemas.microsoft.com/office/drawing/2014/main" val="3112410775"/>
                  </a:ext>
                </a:extLst>
              </a:tr>
              <a:tr h="2105483">
                <a:tc>
                  <a:txBody>
                    <a:bodyPr/>
                    <a:lstStyle/>
                    <a:p>
                      <a:pPr algn="ctr"/>
                      <a:r>
                        <a:rPr lang="en-US" sz="1100" dirty="0">
                          <a:highlight>
                            <a:srgbClr val="FFFF00"/>
                          </a:highlight>
                          <a:latin typeface="Times New Roman" panose="02020603050405020304" pitchFamily="18" charset="0"/>
                          <a:ea typeface="Cambria" panose="02040503050406030204" pitchFamily="18" charset="0"/>
                          <a:cs typeface="Times New Roman" panose="02020603050405020304" pitchFamily="18" charset="0"/>
                        </a:rPr>
                        <a:t>1</a:t>
                      </a:r>
                    </a:p>
                  </a:txBody>
                  <a:tcPr marL="91453" marR="91453" marT="45731" marB="45731"/>
                </a:tc>
                <a:tc>
                  <a:txBody>
                    <a:bodyPr/>
                    <a:lstStyle/>
                    <a:p>
                      <a:pPr algn="just"/>
                      <a:r>
                        <a:rPr lang="en-IN" sz="1100" i="1" dirty="0">
                          <a:highlight>
                            <a:srgbClr val="FFFF00"/>
                          </a:highlight>
                          <a:latin typeface="Times New Roman" panose="02020603050405020304" pitchFamily="18" charset="0"/>
                          <a:cs typeface="Times New Roman" panose="02020603050405020304" pitchFamily="18" charset="0"/>
                        </a:rPr>
                        <a:t>Ambulance route optimization in a mobile ambulance dispatch system using deep neural network (DNN)</a:t>
                      </a:r>
                      <a:r>
                        <a:rPr lang="en-IN" sz="1100" dirty="0">
                          <a:highlight>
                            <a:srgbClr val="FFFF00"/>
                          </a:highlight>
                          <a:latin typeface="Times New Roman" panose="02020603050405020304" pitchFamily="18" charset="0"/>
                          <a:cs typeface="Times New Roman" panose="02020603050405020304" pitchFamily="18" charset="0"/>
                        </a:rPr>
                        <a:t> </a:t>
                      </a:r>
                      <a:br>
                        <a:rPr lang="en-IN" sz="1100" dirty="0">
                          <a:highlight>
                            <a:srgbClr val="FFFF00"/>
                          </a:highlight>
                          <a:latin typeface="Times New Roman" panose="02020603050405020304" pitchFamily="18" charset="0"/>
                          <a:cs typeface="Times New Roman" panose="02020603050405020304" pitchFamily="18" charset="0"/>
                        </a:rPr>
                      </a:br>
                      <a:r>
                        <a:rPr lang="en-IN" sz="1100" b="1" dirty="0">
                          <a:highlight>
                            <a:srgbClr val="FFFF00"/>
                          </a:highlight>
                          <a:latin typeface="Times New Roman" panose="02020603050405020304" pitchFamily="18" charset="0"/>
                          <a:cs typeface="Times New Roman" panose="02020603050405020304" pitchFamily="18" charset="0"/>
                        </a:rPr>
                        <a:t>Authors</a:t>
                      </a:r>
                      <a:r>
                        <a:rPr lang="en-IN" sz="1100" dirty="0">
                          <a:highlight>
                            <a:srgbClr val="FFFF00"/>
                          </a:highlight>
                          <a:latin typeface="Times New Roman" panose="02020603050405020304" pitchFamily="18" charset="0"/>
                          <a:cs typeface="Times New Roman" panose="02020603050405020304" pitchFamily="18" charset="0"/>
                        </a:rPr>
                        <a:t>: C. Selvan, Basha H. Anwar, </a:t>
                      </a:r>
                      <a:r>
                        <a:rPr lang="en-IN" sz="1100" dirty="0" err="1">
                          <a:highlight>
                            <a:srgbClr val="FFFF00"/>
                          </a:highlight>
                          <a:latin typeface="Times New Roman" panose="02020603050405020304" pitchFamily="18" charset="0"/>
                          <a:cs typeface="Times New Roman" panose="02020603050405020304" pitchFamily="18" charset="0"/>
                        </a:rPr>
                        <a:t>Soumyalatha</a:t>
                      </a:r>
                      <a:r>
                        <a:rPr lang="en-IN" sz="1100" dirty="0">
                          <a:highlight>
                            <a:srgbClr val="FFFF00"/>
                          </a:highlight>
                          <a:latin typeface="Times New Roman" panose="02020603050405020304" pitchFamily="18" charset="0"/>
                          <a:cs typeface="Times New Roman" panose="02020603050405020304" pitchFamily="18" charset="0"/>
                        </a:rPr>
                        <a:t> Naveen, Shaik Thasleem Bhanu</a:t>
                      </a:r>
                      <a:endParaRPr lang="en-US" sz="1100" dirty="0">
                        <a:highlight>
                          <a:srgbClr val="FFFF00"/>
                        </a:highlight>
                        <a:latin typeface="Times New Roman" panose="02020603050405020304" pitchFamily="18" charset="0"/>
                        <a:ea typeface="Cambria" panose="02040503050406030204" pitchFamily="18" charset="0"/>
                        <a:cs typeface="Times New Roman" panose="02020603050405020304" pitchFamily="18" charset="0"/>
                      </a:endParaRPr>
                    </a:p>
                  </a:txBody>
                  <a:tcPr marL="91453" marR="91453" marT="45731" marB="45731"/>
                </a:tc>
                <a:tc>
                  <a:txBody>
                    <a:bodyPr/>
                    <a:lstStyle/>
                    <a:p>
                      <a:pPr algn="just"/>
                      <a:r>
                        <a:rPr lang="en-IN" sz="1100" dirty="0">
                          <a:highlight>
                            <a:srgbClr val="FFFF00"/>
                          </a:highlight>
                          <a:latin typeface="Times New Roman" panose="02020603050405020304" pitchFamily="18" charset="0"/>
                          <a:cs typeface="Times New Roman" panose="02020603050405020304" pitchFamily="18" charset="0"/>
                        </a:rPr>
                        <a:t>Published in </a:t>
                      </a:r>
                      <a:r>
                        <a:rPr lang="en-IN" sz="1100" b="0" dirty="0">
                          <a:highlight>
                            <a:srgbClr val="FFFF00"/>
                          </a:highlight>
                          <a:latin typeface="Times New Roman" panose="02020603050405020304" pitchFamily="18" charset="0"/>
                          <a:cs typeface="Times New Roman" panose="02020603050405020304" pitchFamily="18" charset="0"/>
                        </a:rPr>
                        <a:t>Scientific Reports</a:t>
                      </a:r>
                      <a:r>
                        <a:rPr lang="en-IN" sz="1100" dirty="0">
                          <a:highlight>
                            <a:srgbClr val="FFFF00"/>
                          </a:highlight>
                          <a:latin typeface="Times New Roman" panose="02020603050405020304" pitchFamily="18" charset="0"/>
                          <a:cs typeface="Times New Roman" panose="02020603050405020304" pitchFamily="18" charset="0"/>
                        </a:rPr>
                        <a:t>, a well-known SCI-indexed journal (Springer Nature) </a:t>
                      </a:r>
                    </a:p>
                    <a:p>
                      <a:pPr algn="just"/>
                      <a:r>
                        <a:rPr lang="en-IN" sz="1100" dirty="0">
                          <a:highlight>
                            <a:srgbClr val="FFFF00"/>
                          </a:highlight>
                          <a:latin typeface="Times New Roman" panose="02020603050405020304" pitchFamily="18" charset="0"/>
                          <a:cs typeface="Times New Roman" panose="02020603050405020304" pitchFamily="18" charset="0"/>
                        </a:rPr>
                        <a:t>Published : April 23, 2025</a:t>
                      </a:r>
                      <a:endParaRPr lang="en-US" sz="1100" dirty="0">
                        <a:highlight>
                          <a:srgbClr val="FFFF00"/>
                        </a:highlight>
                        <a:latin typeface="Times New Roman" panose="02020603050405020304" pitchFamily="18" charset="0"/>
                        <a:ea typeface="Cambria" panose="02040503050406030204" pitchFamily="18" charset="0"/>
                        <a:cs typeface="Times New Roman" panose="02020603050405020304" pitchFamily="18" charset="0"/>
                      </a:endParaRPr>
                    </a:p>
                  </a:txBody>
                  <a:tcPr marL="91453" marR="91453" marT="45731" marB="45731"/>
                </a:tc>
                <a:tc>
                  <a:txBody>
                    <a:bodyPr/>
                    <a:lstStyle/>
                    <a:p>
                      <a:pPr algn="just"/>
                      <a:r>
                        <a:rPr lang="en-IN" sz="1100" dirty="0">
                          <a:highlight>
                            <a:srgbClr val="FFFF00"/>
                          </a:highlight>
                          <a:latin typeface="Times New Roman" panose="02020603050405020304" pitchFamily="18" charset="0"/>
                          <a:cs typeface="Times New Roman" panose="02020603050405020304" pitchFamily="18" charset="0"/>
                        </a:rPr>
                        <a:t>Kaggle Ambulance Dataset.</a:t>
                      </a:r>
                    </a:p>
                    <a:p>
                      <a:pPr marL="171450" indent="-171450" algn="just">
                        <a:buFont typeface="Arial" panose="020B0604020202020204" pitchFamily="34" charset="0"/>
                        <a:buChar char="•"/>
                      </a:pPr>
                      <a:r>
                        <a:rPr lang="en-IN" sz="1100" b="0" dirty="0">
                          <a:highlight>
                            <a:srgbClr val="FFFF00"/>
                          </a:highlight>
                          <a:latin typeface="Times New Roman" panose="02020603050405020304" pitchFamily="18" charset="0"/>
                          <a:cs typeface="Times New Roman" panose="02020603050405020304" pitchFamily="18" charset="0"/>
                        </a:rPr>
                        <a:t>Decision Tree</a:t>
                      </a:r>
                    </a:p>
                    <a:p>
                      <a:pPr marL="171450" indent="-171450" algn="just">
                        <a:buFont typeface="Arial" panose="020B0604020202020204" pitchFamily="34" charset="0"/>
                        <a:buChar char="•"/>
                      </a:pPr>
                      <a:r>
                        <a:rPr lang="en-IN" sz="1100" b="0" dirty="0">
                          <a:highlight>
                            <a:srgbClr val="FFFF00"/>
                          </a:highlight>
                          <a:latin typeface="Times New Roman" panose="02020603050405020304" pitchFamily="18" charset="0"/>
                          <a:cs typeface="Times New Roman" panose="02020603050405020304" pitchFamily="18" charset="0"/>
                        </a:rPr>
                        <a:t>Support Vector Machine (SVM)</a:t>
                      </a:r>
                    </a:p>
                    <a:p>
                      <a:pPr marL="171450" indent="-171450" algn="just">
                        <a:buFont typeface="Arial" panose="020B0604020202020204" pitchFamily="34" charset="0"/>
                        <a:buChar char="•"/>
                      </a:pPr>
                      <a:r>
                        <a:rPr lang="en-IN" sz="1100" b="0" dirty="0">
                          <a:highlight>
                            <a:srgbClr val="FFFF00"/>
                          </a:highlight>
                          <a:latin typeface="Times New Roman" panose="02020603050405020304" pitchFamily="18" charset="0"/>
                          <a:cs typeface="Times New Roman" panose="02020603050405020304" pitchFamily="18" charset="0"/>
                        </a:rPr>
                        <a:t>CRNN (Convolutional Recurrent Neural Network)</a:t>
                      </a:r>
                      <a:endParaRPr lang="en-US" sz="1100" b="0" dirty="0">
                        <a:highlight>
                          <a:srgbClr val="FFFF00"/>
                        </a:highlight>
                        <a:latin typeface="Times New Roman" panose="02020603050405020304" pitchFamily="18" charset="0"/>
                        <a:ea typeface="Cambria" panose="02040503050406030204" pitchFamily="18" charset="0"/>
                        <a:cs typeface="Times New Roman" panose="02020603050405020304" pitchFamily="18" charset="0"/>
                      </a:endParaRPr>
                    </a:p>
                  </a:txBody>
                  <a:tcPr marL="91453" marR="91453" marT="45731" marB="45731"/>
                </a:tc>
                <a:tc>
                  <a:txBody>
                    <a:body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100" dirty="0">
                          <a:highlight>
                            <a:srgbClr val="FFFF00"/>
                          </a:highlight>
                          <a:latin typeface="Times New Roman" panose="02020603050405020304" pitchFamily="18" charset="0"/>
                          <a:cs typeface="Times New Roman" panose="02020603050405020304" pitchFamily="18" charset="0"/>
                        </a:rPr>
                        <a:t>Existing models do not adapt in real-time to traffic or emergencies</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100" dirty="0">
                          <a:highlight>
                            <a:srgbClr val="FFFF00"/>
                          </a:highlight>
                          <a:latin typeface="Times New Roman" panose="02020603050405020304" pitchFamily="18" charset="0"/>
                          <a:cs typeface="Times New Roman" panose="02020603050405020304" pitchFamily="18" charset="0"/>
                        </a:rPr>
                        <a:t>Traditional methods fail to handle large-scale dynamic routing</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100" b="0" dirty="0">
                          <a:highlight>
                            <a:srgbClr val="FFFF00"/>
                          </a:highlight>
                          <a:latin typeface="Times New Roman" panose="02020603050405020304" pitchFamily="18" charset="0"/>
                          <a:cs typeface="Times New Roman" panose="02020603050405020304" pitchFamily="18" charset="0"/>
                        </a:rPr>
                        <a:t>Limitation of Dataset</a:t>
                      </a:r>
                      <a:r>
                        <a:rPr lang="en-IN" sz="1100" dirty="0">
                          <a:highlight>
                            <a:srgbClr val="FFFF00"/>
                          </a:highlight>
                          <a:latin typeface="Times New Roman" panose="02020603050405020304" pitchFamily="18" charset="0"/>
                          <a:cs typeface="Times New Roman" panose="02020603050405020304" pitchFamily="18" charset="0"/>
                        </a:rPr>
                        <a:t>: The Kaggle dataset might not generalize well across geographic regions due to road, traffic, and infrastructure differences</a:t>
                      </a:r>
                      <a:endParaRPr lang="en-US" sz="1100" dirty="0">
                        <a:highlight>
                          <a:srgbClr val="FFFF00"/>
                        </a:highlight>
                        <a:latin typeface="Times New Roman" panose="02020603050405020304" pitchFamily="18" charset="0"/>
                        <a:ea typeface="Cambria" panose="02040503050406030204" pitchFamily="18" charset="0"/>
                        <a:cs typeface="Times New Roman" panose="02020603050405020304" pitchFamily="18" charset="0"/>
                      </a:endParaRPr>
                    </a:p>
                  </a:txBody>
                  <a:tcPr marL="91453" marR="91453" marT="45731" marB="45731"/>
                </a:tc>
                <a:extLst>
                  <a:ext uri="{0D108BD9-81ED-4DB2-BD59-A6C34878D82A}">
                    <a16:rowId xmlns:a16="http://schemas.microsoft.com/office/drawing/2014/main" val="2505083476"/>
                  </a:ext>
                </a:extLst>
              </a:tr>
              <a:tr h="862868">
                <a:tc>
                  <a:txBody>
                    <a:bodyPr/>
                    <a:lstStyle/>
                    <a:p>
                      <a:pPr algn="ctr"/>
                      <a:r>
                        <a:rPr lang="en-US" sz="1100" dirty="0">
                          <a:latin typeface="Times New Roman" panose="02020603050405020304" pitchFamily="18" charset="0"/>
                          <a:ea typeface="Cambria" panose="02040503050406030204" pitchFamily="18" charset="0"/>
                          <a:cs typeface="Times New Roman" panose="02020603050405020304" pitchFamily="18" charset="0"/>
                        </a:rPr>
                        <a:t>2</a:t>
                      </a:r>
                    </a:p>
                  </a:txBody>
                  <a:tcPr marL="91453" marR="91453" marT="45731" marB="45731"/>
                </a:tc>
                <a:tc>
                  <a:txBody>
                    <a:bodyPr/>
                    <a:lstStyle/>
                    <a:p>
                      <a:pPr algn="just"/>
                      <a:r>
                        <a:rPr lang="en-IN" sz="1100" kern="1200" dirty="0">
                          <a:solidFill>
                            <a:schemeClr val="dk1"/>
                          </a:solidFill>
                          <a:effectLst/>
                          <a:latin typeface="Times New Roman" panose="02020603050405020304" pitchFamily="18" charset="0"/>
                          <a:ea typeface="+mn-ea"/>
                          <a:cs typeface="Times New Roman" panose="02020603050405020304" pitchFamily="18" charset="0"/>
                        </a:rPr>
                        <a:t>Real-Time Health Monitoring Using 5G Networks:</a:t>
                      </a:r>
                    </a:p>
                    <a:p>
                      <a:pPr algn="just"/>
                      <a:r>
                        <a:rPr lang="en-IN" sz="1100" kern="1200" dirty="0">
                          <a:solidFill>
                            <a:schemeClr val="dk1"/>
                          </a:solidFill>
                          <a:effectLst/>
                          <a:latin typeface="Times New Roman" panose="02020603050405020304" pitchFamily="18" charset="0"/>
                          <a:ea typeface="+mn-ea"/>
                          <a:cs typeface="Times New Roman" panose="02020603050405020304" pitchFamily="18" charset="0"/>
                        </a:rPr>
                        <a:t>A Deep Learning Based Architecture for Remote</a:t>
                      </a:r>
                    </a:p>
                    <a:p>
                      <a:pPr algn="just"/>
                      <a:r>
                        <a:rPr lang="en-IN" sz="1100" kern="1200" dirty="0">
                          <a:solidFill>
                            <a:schemeClr val="dk1"/>
                          </a:solidFill>
                          <a:effectLst/>
                          <a:latin typeface="Times New Roman" panose="02020603050405020304" pitchFamily="18" charset="0"/>
                          <a:ea typeface="+mn-ea"/>
                          <a:cs typeface="Times New Roman" panose="02020603050405020304" pitchFamily="18" charset="0"/>
                        </a:rPr>
                        <a:t>Patient Care</a:t>
                      </a:r>
                    </a:p>
                    <a:p>
                      <a:pPr algn="ctr"/>
                      <a:endParaRPr lang="en-US" sz="1100" dirty="0">
                        <a:latin typeface="Cambria" panose="02040503050406030204" pitchFamily="18" charset="0"/>
                        <a:ea typeface="Cambria" panose="02040503050406030204" pitchFamily="18" charset="0"/>
                      </a:endParaRPr>
                    </a:p>
                  </a:txBody>
                  <a:tcPr marL="91453" marR="91453" marT="45731" marB="45731"/>
                </a:tc>
                <a:tc>
                  <a:txBody>
                    <a:bodyPr/>
                    <a:lstStyle/>
                    <a:p>
                      <a:pPr algn="just"/>
                      <a:r>
                        <a:rPr lang="en-US" sz="1100" dirty="0">
                          <a:latin typeface="Times New Roman" panose="02020603050405020304" pitchFamily="18" charset="0"/>
                          <a:ea typeface="Cambria" panose="02040503050406030204" pitchFamily="18" charset="0"/>
                          <a:cs typeface="Times New Roman" panose="02020603050405020304" pitchFamily="18" charset="0"/>
                        </a:rPr>
                        <a:t>Published in </a:t>
                      </a:r>
                      <a:r>
                        <a:rPr lang="en-IN" sz="1100" dirty="0" err="1">
                          <a:latin typeface="Times New Roman" panose="02020603050405020304" pitchFamily="18" charset="0"/>
                          <a:cs typeface="Times New Roman" panose="02020603050405020304" pitchFamily="18" charset="0"/>
                        </a:rPr>
                        <a:t>arXiv</a:t>
                      </a:r>
                      <a:r>
                        <a:rPr lang="en-IN" sz="1100" dirty="0">
                          <a:latin typeface="Times New Roman" panose="02020603050405020304" pitchFamily="18" charset="0"/>
                          <a:cs typeface="Times New Roman" panose="02020603050405020304" pitchFamily="18" charset="0"/>
                        </a:rPr>
                        <a:t>.</a:t>
                      </a:r>
                    </a:p>
                    <a:p>
                      <a:pPr algn="just"/>
                      <a:r>
                        <a:rPr lang="en-US" sz="1100" dirty="0">
                          <a:latin typeface="Times New Roman" panose="02020603050405020304" pitchFamily="18" charset="0"/>
                          <a:ea typeface="Cambria" panose="02040503050406030204" pitchFamily="18" charset="0"/>
                          <a:cs typeface="Times New Roman" panose="02020603050405020304" pitchFamily="18" charset="0"/>
                        </a:rPr>
                        <a:t>Published : </a:t>
                      </a:r>
                      <a:r>
                        <a:rPr lang="en-IN" sz="1100" dirty="0">
                          <a:latin typeface="Times New Roman" panose="02020603050405020304" pitchFamily="18" charset="0"/>
                          <a:cs typeface="Times New Roman" panose="02020603050405020304" pitchFamily="18" charset="0"/>
                        </a:rPr>
                        <a:t>2 Jan 2025</a:t>
                      </a:r>
                      <a:endParaRPr lang="en-US" sz="1100" dirty="0">
                        <a:latin typeface="Times New Roman" panose="02020603050405020304" pitchFamily="18" charset="0"/>
                        <a:ea typeface="Cambria" panose="02040503050406030204" pitchFamily="18" charset="0"/>
                        <a:cs typeface="Times New Roman" panose="02020603050405020304" pitchFamily="18" charset="0"/>
                      </a:endParaRPr>
                    </a:p>
                  </a:txBody>
                  <a:tcPr marL="91453" marR="91453" marT="45731" marB="45731"/>
                </a:tc>
                <a:tc>
                  <a:txBody>
                    <a:bodyPr/>
                    <a:lstStyle/>
                    <a:p>
                      <a:pPr marL="171450" indent="-171450" algn="just">
                        <a:buFont typeface="Arial" panose="020B0604020202020204" pitchFamily="34" charset="0"/>
                        <a:buChar char="•"/>
                      </a:pPr>
                      <a:r>
                        <a:rPr lang="en-IN" sz="1100" dirty="0">
                          <a:latin typeface="Times New Roman" panose="02020603050405020304" pitchFamily="18" charset="0"/>
                          <a:cs typeface="Times New Roman" panose="02020603050405020304" pitchFamily="18" charset="0"/>
                        </a:rPr>
                        <a:t>Hybrid CNN-LSTM with attention mechanism; deployed over 5G network</a:t>
                      </a:r>
                      <a:endParaRPr lang="en-US" sz="1100" dirty="0">
                        <a:latin typeface="Times New Roman" panose="02020603050405020304" pitchFamily="18" charset="0"/>
                        <a:ea typeface="Cambria" panose="02040503050406030204" pitchFamily="18" charset="0"/>
                        <a:cs typeface="Times New Roman" panose="02020603050405020304" pitchFamily="18" charset="0"/>
                      </a:endParaRPr>
                    </a:p>
                  </a:txBody>
                  <a:tcPr marL="91453" marR="91453" marT="45731" marB="45731"/>
                </a:tc>
                <a:tc>
                  <a:txBody>
                    <a:body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100" dirty="0">
                          <a:latin typeface="Times New Roman" panose="02020603050405020304" pitchFamily="18" charset="0"/>
                          <a:cs typeface="Times New Roman" panose="02020603050405020304" pitchFamily="18" charset="0"/>
                        </a:rPr>
                        <a:t>Performance validated in controlled clinical settings only; lacks deployment in real-world unstable networks</a:t>
                      </a:r>
                      <a:endParaRPr lang="en-US" sz="1100" dirty="0">
                        <a:latin typeface="Times New Roman" panose="02020603050405020304" pitchFamily="18" charset="0"/>
                        <a:ea typeface="Cambria" panose="02040503050406030204" pitchFamily="18" charset="0"/>
                        <a:cs typeface="Times New Roman" panose="02020603050405020304" pitchFamily="18" charset="0"/>
                      </a:endParaRPr>
                    </a:p>
                  </a:txBody>
                  <a:tcPr marL="91453" marR="91453" marT="45731" marB="45731"/>
                </a:tc>
                <a:extLst>
                  <a:ext uri="{0D108BD9-81ED-4DB2-BD59-A6C34878D82A}">
                    <a16:rowId xmlns:a16="http://schemas.microsoft.com/office/drawing/2014/main" val="66620903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4A42D-0AE6-A0A8-D414-3B3F4C8128A1}"/>
            </a:ext>
          </a:extLst>
        </p:cNvPr>
        <p:cNvGrpSpPr/>
        <p:nvPr/>
      </p:nvGrpSpPr>
      <p:grpSpPr>
        <a:xfrm>
          <a:off x="0" y="0"/>
          <a:ext cx="0" cy="0"/>
          <a:chOff x="0" y="0"/>
          <a:chExt cx="0" cy="0"/>
        </a:xfrm>
      </p:grpSpPr>
      <p:sp>
        <p:nvSpPr>
          <p:cNvPr id="12290" name="Title 1">
            <a:extLst>
              <a:ext uri="{FF2B5EF4-FFF2-40B4-BE49-F238E27FC236}">
                <a16:creationId xmlns:a16="http://schemas.microsoft.com/office/drawing/2014/main" id="{AFC868C4-0B63-4725-08BB-8789BDDE49FC}"/>
              </a:ext>
            </a:extLst>
          </p:cNvPr>
          <p:cNvSpPr>
            <a:spLocks noGrp="1"/>
          </p:cNvSpPr>
          <p:nvPr>
            <p:ph type="title"/>
          </p:nvPr>
        </p:nvSpPr>
        <p:spPr/>
        <p:txBody>
          <a:bodyPr/>
          <a:lstStyle/>
          <a:p>
            <a:pPr eaLnBrk="1" hangingPunct="1"/>
            <a:r>
              <a:rPr lang="en-IN" altLang="en-US" sz="4000" b="1">
                <a:latin typeface="Times New Roman" panose="02020603050405020304" pitchFamily="18" charset="0"/>
                <a:cs typeface="Times New Roman" panose="02020603050405020304" pitchFamily="18" charset="0"/>
              </a:rPr>
              <a:t>Literature Survey</a:t>
            </a:r>
          </a:p>
        </p:txBody>
      </p:sp>
      <p:sp>
        <p:nvSpPr>
          <p:cNvPr id="11267" name="Content Placeholder 2">
            <a:extLst>
              <a:ext uri="{FF2B5EF4-FFF2-40B4-BE49-F238E27FC236}">
                <a16:creationId xmlns:a16="http://schemas.microsoft.com/office/drawing/2014/main" id="{F351C097-C4AA-4BFD-AA52-6429373E02A5}"/>
              </a:ext>
            </a:extLst>
          </p:cNvPr>
          <p:cNvSpPr>
            <a:spLocks noGrp="1"/>
          </p:cNvSpPr>
          <p:nvPr>
            <p:ph idx="1"/>
          </p:nvPr>
        </p:nvSpPr>
        <p:spPr>
          <a:xfrm>
            <a:off x="838200" y="1456915"/>
            <a:ext cx="10515600" cy="1551756"/>
          </a:xfrm>
        </p:spPr>
        <p:txBody>
          <a:bodyPr/>
          <a:lstStyle/>
          <a:p>
            <a:pPr marL="0" indent="0" eaLnBrk="1" hangingPunct="1">
              <a:buNone/>
              <a:defRPr/>
            </a:pPr>
            <a:endParaRPr lang="en-IN" altLang="en-US" dirty="0">
              <a:latin typeface="Times New Roman" panose="02020603050405020304" pitchFamily="18" charset="0"/>
              <a:cs typeface="Times New Roman" panose="02020603050405020304" pitchFamily="18" charset="0"/>
            </a:endParaRPr>
          </a:p>
        </p:txBody>
      </p:sp>
      <p:sp>
        <p:nvSpPr>
          <p:cNvPr id="12292" name="Slide Number Placeholder 7">
            <a:extLst>
              <a:ext uri="{FF2B5EF4-FFF2-40B4-BE49-F238E27FC236}">
                <a16:creationId xmlns:a16="http://schemas.microsoft.com/office/drawing/2014/main" id="{EFECF0C0-2676-19D0-D3FB-A0542FE3B972}"/>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EE1AE39C-A8DF-3940-9207-1DF0B8EDDAF4}" type="slidenum">
              <a:rPr lang="en-IN" altLang="en-US" sz="1200">
                <a:solidFill>
                  <a:srgbClr val="898989"/>
                </a:solidFill>
                <a:latin typeface="Times New Roman" panose="02020603050405020304" pitchFamily="18" charset="0"/>
                <a:cs typeface="Times New Roman" panose="02020603050405020304" pitchFamily="18" charset="0"/>
              </a:rPr>
              <a:pPr>
                <a:lnSpc>
                  <a:spcPct val="100000"/>
                </a:lnSpc>
                <a:spcBef>
                  <a:spcPct val="0"/>
                </a:spcBef>
                <a:buFontTx/>
                <a:buNone/>
              </a:pPr>
              <a:t>8</a:t>
            </a:fld>
            <a:endParaRPr lang="en-IN" altLang="en-US" sz="1200">
              <a:solidFill>
                <a:srgbClr val="898989"/>
              </a:solidFill>
              <a:latin typeface="Times New Roman" panose="02020603050405020304" pitchFamily="18" charset="0"/>
              <a:cs typeface="Times New Roman" panose="02020603050405020304" pitchFamily="18" charset="0"/>
            </a:endParaRPr>
          </a:p>
        </p:txBody>
      </p:sp>
      <p:sp>
        <p:nvSpPr>
          <p:cNvPr id="9" name="Footer Placeholder 8">
            <a:extLst>
              <a:ext uri="{FF2B5EF4-FFF2-40B4-BE49-F238E27FC236}">
                <a16:creationId xmlns:a16="http://schemas.microsoft.com/office/drawing/2014/main" id="{5CA68C18-5F75-349A-ECCA-C56C1C8516E2}"/>
              </a:ext>
            </a:extLst>
          </p:cNvPr>
          <p:cNvSpPr>
            <a:spLocks noGrp="1"/>
          </p:cNvSpPr>
          <p:nvPr>
            <p:ph type="ftr" sz="quarter" idx="10"/>
          </p:nvPr>
        </p:nvSpPr>
        <p:spPr>
          <a:xfrm>
            <a:off x="0" y="6308725"/>
            <a:ext cx="7904163" cy="412750"/>
          </a:xfrm>
        </p:spPr>
        <p:txBody>
          <a:bodyPr/>
          <a:lstStyle/>
          <a:p>
            <a:pPr>
              <a:defRPr/>
            </a:pPr>
            <a:r>
              <a:rPr lang="en-US" dirty="0">
                <a:latin typeface="Times New Roman" panose="02020603050405020304" pitchFamily="18" charset="0"/>
                <a:cs typeface="Times New Roman" panose="02020603050405020304" pitchFamily="18" charset="0"/>
              </a:rPr>
              <a:t>Dept of CSE,GAT                                                                                                    2024-25                                                                                                                                                                        </a:t>
            </a:r>
            <a:endParaRPr lang="en-IN"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D424DDBB-72AC-95A8-FCA9-63CC978FA48C}"/>
              </a:ext>
            </a:extLst>
          </p:cNvPr>
          <p:cNvGraphicFramePr>
            <a:graphicFrameLocks noGrp="1"/>
          </p:cNvGraphicFramePr>
          <p:nvPr>
            <p:extLst>
              <p:ext uri="{D42A27DB-BD31-4B8C-83A1-F6EECF244321}">
                <p14:modId xmlns:p14="http://schemas.microsoft.com/office/powerpoint/2010/main" val="3091899080"/>
              </p:ext>
            </p:extLst>
          </p:nvPr>
        </p:nvGraphicFramePr>
        <p:xfrm>
          <a:off x="658813" y="1456921"/>
          <a:ext cx="10694987" cy="4551994"/>
        </p:xfrm>
        <a:graphic>
          <a:graphicData uri="http://schemas.openxmlformats.org/drawingml/2006/table">
            <a:tbl>
              <a:tblPr firstRow="1" bandRow="1">
                <a:tableStyleId>{5C22544A-7EE6-4342-B048-85BDC9FD1C3A}</a:tableStyleId>
              </a:tblPr>
              <a:tblGrid>
                <a:gridCol w="598260">
                  <a:extLst>
                    <a:ext uri="{9D8B030D-6E8A-4147-A177-3AD203B41FA5}">
                      <a16:colId xmlns:a16="http://schemas.microsoft.com/office/drawing/2014/main" val="3574709401"/>
                    </a:ext>
                  </a:extLst>
                </a:gridCol>
                <a:gridCol w="1873708">
                  <a:extLst>
                    <a:ext uri="{9D8B030D-6E8A-4147-A177-3AD203B41FA5}">
                      <a16:colId xmlns:a16="http://schemas.microsoft.com/office/drawing/2014/main" val="848083800"/>
                    </a:ext>
                  </a:extLst>
                </a:gridCol>
                <a:gridCol w="2420933">
                  <a:extLst>
                    <a:ext uri="{9D8B030D-6E8A-4147-A177-3AD203B41FA5}">
                      <a16:colId xmlns:a16="http://schemas.microsoft.com/office/drawing/2014/main" val="1708821697"/>
                    </a:ext>
                  </a:extLst>
                </a:gridCol>
                <a:gridCol w="3515578">
                  <a:extLst>
                    <a:ext uri="{9D8B030D-6E8A-4147-A177-3AD203B41FA5}">
                      <a16:colId xmlns:a16="http://schemas.microsoft.com/office/drawing/2014/main" val="2669523253"/>
                    </a:ext>
                  </a:extLst>
                </a:gridCol>
                <a:gridCol w="2286508">
                  <a:extLst>
                    <a:ext uri="{9D8B030D-6E8A-4147-A177-3AD203B41FA5}">
                      <a16:colId xmlns:a16="http://schemas.microsoft.com/office/drawing/2014/main" val="2358187058"/>
                    </a:ext>
                  </a:extLst>
                </a:gridCol>
              </a:tblGrid>
              <a:tr h="993641">
                <a:tc>
                  <a:txBody>
                    <a:bodyPr/>
                    <a:lstStyle/>
                    <a:p>
                      <a:pPr algn="ctr"/>
                      <a:r>
                        <a:rPr lang="en-US" sz="1800" dirty="0">
                          <a:latin typeface="Cambria" panose="02040503050406030204" pitchFamily="18" charset="0"/>
                          <a:ea typeface="Cambria" panose="02040503050406030204" pitchFamily="18" charset="0"/>
                        </a:rPr>
                        <a:t>Sl. #</a:t>
                      </a:r>
                    </a:p>
                  </a:txBody>
                  <a:tcPr marL="91453" marR="91453" marT="45731" marB="4573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Title and Author</a:t>
                      </a:r>
                    </a:p>
                  </a:txBody>
                  <a:tcPr marL="91453" marR="91453" marT="45731" marB="45731"/>
                </a:tc>
                <a:tc>
                  <a:txBody>
                    <a:bodyPr/>
                    <a:lstStyle/>
                    <a:p>
                      <a:pPr algn="ctr"/>
                      <a:r>
                        <a:rPr lang="en-US" sz="1800" dirty="0">
                          <a:latin typeface="Cambria" panose="02040503050406030204" pitchFamily="18" charset="0"/>
                          <a:ea typeface="Cambria" panose="02040503050406030204" pitchFamily="18" charset="0"/>
                        </a:rPr>
                        <a:t>Scopus/SCI</a:t>
                      </a:r>
                    </a:p>
                    <a:p>
                      <a:pPr algn="ctr"/>
                      <a:r>
                        <a:rPr lang="en-US" sz="1800" dirty="0">
                          <a:latin typeface="Cambria" panose="02040503050406030204" pitchFamily="18" charset="0"/>
                          <a:ea typeface="Cambria" panose="02040503050406030204" pitchFamily="18" charset="0"/>
                        </a:rPr>
                        <a:t>Date of Publication</a:t>
                      </a:r>
                    </a:p>
                  </a:txBody>
                  <a:tcPr marL="91453" marR="91453" marT="45731" marB="4573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Dataset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 and Methodology Used</a:t>
                      </a:r>
                    </a:p>
                  </a:txBody>
                  <a:tcPr marL="91453" marR="91453" marT="45731" marB="4573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Research Gap</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Identified/Limitation</a:t>
                      </a:r>
                    </a:p>
                  </a:txBody>
                  <a:tcPr marL="91453" marR="91453" marT="45731" marB="45731"/>
                </a:tc>
                <a:extLst>
                  <a:ext uri="{0D108BD9-81ED-4DB2-BD59-A6C34878D82A}">
                    <a16:rowId xmlns:a16="http://schemas.microsoft.com/office/drawing/2014/main" val="3112410775"/>
                  </a:ext>
                </a:extLst>
              </a:tr>
              <a:tr h="1595301">
                <a:tc>
                  <a:txBody>
                    <a:bodyPr/>
                    <a:lstStyle/>
                    <a:p>
                      <a:pPr algn="ctr"/>
                      <a:r>
                        <a:rPr lang="en-US" sz="1100" dirty="0">
                          <a:latin typeface="Times New Roman" panose="02020603050405020304" pitchFamily="18" charset="0"/>
                          <a:ea typeface="Cambria" panose="02040503050406030204" pitchFamily="18" charset="0"/>
                          <a:cs typeface="Times New Roman" panose="02020603050405020304" pitchFamily="18" charset="0"/>
                        </a:rPr>
                        <a:t>3</a:t>
                      </a:r>
                    </a:p>
                  </a:txBody>
                  <a:tcPr marL="91453" marR="91453" marT="45731" marB="45731"/>
                </a:tc>
                <a:tc>
                  <a:txBody>
                    <a:bodyPr/>
                    <a:lstStyle/>
                    <a:p>
                      <a:pPr algn="just"/>
                      <a:r>
                        <a:rPr lang="en-IN" sz="1100" kern="1200" dirty="0">
                          <a:solidFill>
                            <a:schemeClr val="dk1"/>
                          </a:solidFill>
                          <a:effectLst/>
                          <a:latin typeface="Times New Roman" panose="02020603050405020304" pitchFamily="18" charset="0"/>
                          <a:ea typeface="+mn-ea"/>
                          <a:cs typeface="Times New Roman" panose="02020603050405020304" pitchFamily="18" charset="0"/>
                        </a:rPr>
                        <a:t>Optimization-Augmented Machine Learning for Vehicle Operations in Emergency</a:t>
                      </a:r>
                    </a:p>
                    <a:p>
                      <a:pPr algn="just"/>
                      <a:r>
                        <a:rPr lang="en-IN" sz="1100" kern="1200" dirty="0">
                          <a:solidFill>
                            <a:schemeClr val="dk1"/>
                          </a:solidFill>
                          <a:effectLst/>
                          <a:latin typeface="Times New Roman" panose="02020603050405020304" pitchFamily="18" charset="0"/>
                          <a:ea typeface="+mn-ea"/>
                          <a:cs typeface="Times New Roman" panose="02020603050405020304" pitchFamily="18" charset="0"/>
                        </a:rPr>
                        <a:t>Medical Services.</a:t>
                      </a:r>
                    </a:p>
                    <a:p>
                      <a:pPr algn="just"/>
                      <a:r>
                        <a:rPr lang="en-IN" sz="1100" kern="1200" dirty="0" err="1">
                          <a:solidFill>
                            <a:schemeClr val="dk1"/>
                          </a:solidFill>
                          <a:effectLst/>
                          <a:latin typeface="Times New Roman" panose="02020603050405020304" pitchFamily="18" charset="0"/>
                          <a:ea typeface="+mn-ea"/>
                          <a:cs typeface="Times New Roman" panose="02020603050405020304" pitchFamily="18" charset="0"/>
                        </a:rPr>
                        <a:t>Author:</a:t>
                      </a:r>
                      <a:r>
                        <a:rPr lang="en-IN" sz="1100" dirty="0" err="1">
                          <a:latin typeface="Times New Roman" panose="02020603050405020304" pitchFamily="18" charset="0"/>
                          <a:cs typeface="Times New Roman" panose="02020603050405020304" pitchFamily="18" charset="0"/>
                        </a:rPr>
                        <a:t>Maximiliane</a:t>
                      </a:r>
                      <a:r>
                        <a:rPr lang="en-IN" sz="1100" dirty="0">
                          <a:latin typeface="Times New Roman" panose="02020603050405020304" pitchFamily="18" charset="0"/>
                          <a:cs typeface="Times New Roman" panose="02020603050405020304" pitchFamily="18" charset="0"/>
                        </a:rPr>
                        <a:t> </a:t>
                      </a:r>
                      <a:r>
                        <a:rPr lang="en-IN" sz="1100" dirty="0" err="1">
                          <a:latin typeface="Times New Roman" panose="02020603050405020304" pitchFamily="18" charset="0"/>
                          <a:cs typeface="Times New Roman" panose="02020603050405020304" pitchFamily="18" charset="0"/>
                        </a:rPr>
                        <a:t>Rautenstrauß</a:t>
                      </a:r>
                      <a:r>
                        <a:rPr lang="en-IN" sz="1100" dirty="0">
                          <a:latin typeface="Times New Roman" panose="02020603050405020304" pitchFamily="18" charset="0"/>
                          <a:cs typeface="Times New Roman" panose="02020603050405020304" pitchFamily="18" charset="0"/>
                        </a:rPr>
                        <a:t> &amp; Maximilian Schiffer</a:t>
                      </a:r>
                      <a:endParaRPr lang="en-IN" sz="1100" kern="1200" dirty="0">
                        <a:solidFill>
                          <a:schemeClr val="dk1"/>
                        </a:solidFill>
                        <a:effectLst/>
                        <a:latin typeface="Times New Roman" panose="02020603050405020304" pitchFamily="18" charset="0"/>
                        <a:ea typeface="+mn-ea"/>
                        <a:cs typeface="Times New Roman" panose="02020603050405020304" pitchFamily="18" charset="0"/>
                      </a:endParaRPr>
                    </a:p>
                    <a:p>
                      <a:pPr algn="just"/>
                      <a:endParaRPr lang="en-US" sz="1100" dirty="0">
                        <a:latin typeface="Times New Roman" panose="02020603050405020304" pitchFamily="18" charset="0"/>
                        <a:ea typeface="Cambria" panose="02040503050406030204" pitchFamily="18" charset="0"/>
                        <a:cs typeface="Times New Roman" panose="02020603050405020304" pitchFamily="18" charset="0"/>
                      </a:endParaRPr>
                    </a:p>
                  </a:txBody>
                  <a:tcPr marL="91453" marR="91453" marT="45731" marB="45731"/>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dirty="0">
                          <a:latin typeface="Times New Roman" panose="02020603050405020304" pitchFamily="18" charset="0"/>
                          <a:ea typeface="Cambria" panose="02040503050406030204" pitchFamily="18" charset="0"/>
                          <a:cs typeface="Times New Roman" panose="02020603050405020304" pitchFamily="18" charset="0"/>
                        </a:rPr>
                        <a:t>Published in </a:t>
                      </a:r>
                      <a:r>
                        <a:rPr lang="en-IN" sz="1100" dirty="0" err="1">
                          <a:latin typeface="Times New Roman" panose="02020603050405020304" pitchFamily="18" charset="0"/>
                          <a:cs typeface="Times New Roman" panose="02020603050405020304" pitchFamily="18" charset="0"/>
                        </a:rPr>
                        <a:t>arXiv</a:t>
                      </a:r>
                      <a:r>
                        <a:rPr lang="en-IN" sz="1100" dirty="0">
                          <a:latin typeface="Times New Roman" panose="02020603050405020304" pitchFamily="18" charset="0"/>
                          <a:cs typeface="Times New Roman" panose="02020603050405020304" pitchFamily="18" charset="0"/>
                        </a:rPr>
                        <a:t>.</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dirty="0">
                          <a:latin typeface="Times New Roman" panose="02020603050405020304" pitchFamily="18" charset="0"/>
                          <a:ea typeface="Cambria" panose="02040503050406030204" pitchFamily="18" charset="0"/>
                          <a:cs typeface="Times New Roman" panose="02020603050405020304" pitchFamily="18" charset="0"/>
                        </a:rPr>
                        <a:t>Published : </a:t>
                      </a:r>
                      <a:r>
                        <a:rPr lang="en-IN" sz="1100" dirty="0"/>
                        <a:t>14 Mar 2025</a:t>
                      </a:r>
                      <a:endParaRPr lang="en-US" sz="1100" dirty="0">
                        <a:latin typeface="Times New Roman" panose="02020603050405020304" pitchFamily="18" charset="0"/>
                        <a:ea typeface="Cambria" panose="02040503050406030204" pitchFamily="18" charset="0"/>
                        <a:cs typeface="Times New Roman" panose="02020603050405020304" pitchFamily="18" charset="0"/>
                      </a:endParaRPr>
                    </a:p>
                  </a:txBody>
                  <a:tcPr marL="91453" marR="91453" marT="45731" marB="45731"/>
                </a:tc>
                <a:tc>
                  <a:txBody>
                    <a:bodyPr/>
                    <a:lstStyle/>
                    <a:p>
                      <a:r>
                        <a:rPr lang="en-IN" sz="1100" dirty="0"/>
                        <a:t>San Francisco 911 call data (Jan–Jun 2023)</a:t>
                      </a:r>
                    </a:p>
                    <a:p>
                      <a:r>
                        <a:rPr lang="en-IN" sz="1100" dirty="0"/>
                        <a:t> MCLP model + ML augmentation</a:t>
                      </a:r>
                      <a:endParaRPr lang="en-IN" sz="1100" dirty="0">
                        <a:latin typeface="Times New Roman" panose="02020603050405020304" pitchFamily="18" charset="0"/>
                        <a:cs typeface="Times New Roman" panose="02020603050405020304" pitchFamily="18" charset="0"/>
                      </a:endParaRPr>
                    </a:p>
                  </a:txBody>
                  <a:tcPr/>
                </a:tc>
                <a:tc>
                  <a:txBody>
                    <a:body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100" dirty="0"/>
                        <a:t>Prior models ignored real-time constraints and anticipatory planning; addresses generalization gap</a:t>
                      </a:r>
                      <a:endParaRPr lang="en-US" sz="1100" b="0" dirty="0">
                        <a:latin typeface="Times New Roman" panose="02020603050405020304" pitchFamily="18" charset="0"/>
                        <a:ea typeface="Cambria" panose="02040503050406030204" pitchFamily="18" charset="0"/>
                        <a:cs typeface="Times New Roman" panose="02020603050405020304" pitchFamily="18" charset="0"/>
                      </a:endParaRPr>
                    </a:p>
                  </a:txBody>
                  <a:tcPr marL="91453" marR="91453" marT="45731" marB="45731"/>
                </a:tc>
                <a:extLst>
                  <a:ext uri="{0D108BD9-81ED-4DB2-BD59-A6C34878D82A}">
                    <a16:rowId xmlns:a16="http://schemas.microsoft.com/office/drawing/2014/main" val="2505083476"/>
                  </a:ext>
                </a:extLst>
              </a:tr>
              <a:tr h="1963052">
                <a:tc>
                  <a:txBody>
                    <a:bodyPr/>
                    <a:lstStyle/>
                    <a:p>
                      <a:pPr algn="ctr"/>
                      <a:r>
                        <a:rPr lang="en-US" sz="1100" dirty="0">
                          <a:latin typeface="Times New Roman" panose="02020603050405020304" pitchFamily="18" charset="0"/>
                          <a:ea typeface="Cambria" panose="02040503050406030204" pitchFamily="18" charset="0"/>
                          <a:cs typeface="Times New Roman" panose="02020603050405020304" pitchFamily="18" charset="0"/>
                        </a:rPr>
                        <a:t>4</a:t>
                      </a:r>
                    </a:p>
                  </a:txBody>
                  <a:tcPr marL="91453" marR="91453" marT="45731" marB="45731"/>
                </a:tc>
                <a:tc>
                  <a:txBody>
                    <a:bodyPr/>
                    <a:lstStyle/>
                    <a:p>
                      <a:pPr algn="just"/>
                      <a:r>
                        <a:rPr lang="en-IN" sz="1100" b="0" i="0" kern="1200" dirty="0">
                          <a:solidFill>
                            <a:schemeClr val="dk1"/>
                          </a:solidFill>
                          <a:effectLst/>
                          <a:latin typeface="Times New Roman" panose="02020603050405020304" pitchFamily="18" charset="0"/>
                          <a:ea typeface="+mn-ea"/>
                          <a:cs typeface="Times New Roman" panose="02020603050405020304" pitchFamily="18" charset="0"/>
                        </a:rPr>
                        <a:t>AI-Based Response Emergency Response Systems: A Systematic Literature Review On Smart Infrastructure Safety.</a:t>
                      </a:r>
                    </a:p>
                    <a:p>
                      <a:pPr algn="just"/>
                      <a:r>
                        <a:rPr lang="en-US" sz="1100" b="0" i="0" dirty="0">
                          <a:latin typeface="Times New Roman" panose="02020603050405020304" pitchFamily="18" charset="0"/>
                          <a:ea typeface="Cambria" panose="02040503050406030204" pitchFamily="18" charset="0"/>
                          <a:cs typeface="Times New Roman" panose="02020603050405020304" pitchFamily="18" charset="0"/>
                        </a:rPr>
                        <a:t>Author:</a:t>
                      </a:r>
                      <a:r>
                        <a:rPr lang="en-IN" sz="1100" b="0" i="0" dirty="0">
                          <a:latin typeface="Times New Roman" panose="02020603050405020304" pitchFamily="18" charset="0"/>
                          <a:cs typeface="Times New Roman" panose="02020603050405020304" pitchFamily="18" charset="0"/>
                        </a:rPr>
                        <a:t>Ammar Bajwa</a:t>
                      </a:r>
                      <a:endParaRPr lang="en-US" sz="1100" b="0" i="0" dirty="0">
                        <a:latin typeface="Times New Roman" panose="02020603050405020304" pitchFamily="18" charset="0"/>
                        <a:ea typeface="Cambria" panose="02040503050406030204" pitchFamily="18" charset="0"/>
                        <a:cs typeface="Times New Roman" panose="02020603050405020304" pitchFamily="18" charset="0"/>
                      </a:endParaRPr>
                    </a:p>
                  </a:txBody>
                  <a:tcPr marL="91453" marR="91453" marT="45731" marB="45731"/>
                </a:tc>
                <a:tc>
                  <a:txBody>
                    <a:bodyPr/>
                    <a:lstStyle/>
                    <a:p>
                      <a:pPr algn="just"/>
                      <a:r>
                        <a:rPr lang="en-IN" sz="1100" dirty="0"/>
                        <a:t>American Journal of Advanced Tech. &amp; Engineering Solutions.</a:t>
                      </a:r>
                    </a:p>
                    <a:p>
                      <a:pPr algn="just"/>
                      <a:r>
                        <a:rPr lang="en-US" sz="1100">
                          <a:latin typeface="Times New Roman" panose="02020603050405020304" pitchFamily="18" charset="0"/>
                          <a:ea typeface="Cambria" panose="02040503050406030204" pitchFamily="18" charset="0"/>
                          <a:cs typeface="Times New Roman" panose="02020603050405020304" pitchFamily="18" charset="0"/>
                        </a:rPr>
                        <a:t>Published : </a:t>
                      </a:r>
                      <a:r>
                        <a:rPr lang="en-IN" sz="1100"/>
                        <a:t>March </a:t>
                      </a:r>
                      <a:r>
                        <a:rPr lang="en-IN" sz="1100" dirty="0"/>
                        <a:t>2025</a:t>
                      </a:r>
                      <a:endParaRPr lang="en-IN" sz="1100" dirty="0">
                        <a:latin typeface="Times New Roman" panose="02020603050405020304" pitchFamily="18" charset="0"/>
                        <a:cs typeface="Times New Roman" panose="02020603050405020304" pitchFamily="18" charset="0"/>
                      </a:endParaRPr>
                    </a:p>
                  </a:txBody>
                  <a:tcPr marL="91453" marR="91453" marT="45731" marB="45731"/>
                </a:tc>
                <a:tc>
                  <a:txBody>
                    <a:bodyPr/>
                    <a:lstStyle/>
                    <a:p>
                      <a:pPr algn="just"/>
                      <a:r>
                        <a:rPr lang="en-IN" sz="1100" dirty="0"/>
                        <a:t>424 studies reviewed; no dataset used directly; PRISMA method</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100" dirty="0"/>
                        <a:t>Ethical, regulatory, and algorithmic bias concerns hinder real-world AI adoption in emergencies</a:t>
                      </a:r>
                      <a:endParaRPr lang="en-US" sz="1100" dirty="0">
                        <a:latin typeface="Times New Roman" panose="02020603050405020304" pitchFamily="18" charset="0"/>
                        <a:ea typeface="Cambria" panose="02040503050406030204" pitchFamily="18" charset="0"/>
                        <a:cs typeface="Times New Roman" panose="02020603050405020304" pitchFamily="18" charset="0"/>
                      </a:endParaRPr>
                    </a:p>
                  </a:txBody>
                  <a:tcPr marL="91453" marR="91453" marT="45731" marB="45731"/>
                </a:tc>
                <a:extLst>
                  <a:ext uri="{0D108BD9-81ED-4DB2-BD59-A6C34878D82A}">
                    <a16:rowId xmlns:a16="http://schemas.microsoft.com/office/drawing/2014/main" val="666209038"/>
                  </a:ext>
                </a:extLst>
              </a:tr>
            </a:tbl>
          </a:graphicData>
        </a:graphic>
      </p:graphicFrame>
    </p:spTree>
    <p:extLst>
      <p:ext uri="{BB962C8B-B14F-4D97-AF65-F5344CB8AC3E}">
        <p14:creationId xmlns:p14="http://schemas.microsoft.com/office/powerpoint/2010/main" val="8162904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C1FA3-0D04-7EBF-B962-F2EB84A53D4A}"/>
            </a:ext>
          </a:extLst>
        </p:cNvPr>
        <p:cNvGrpSpPr/>
        <p:nvPr/>
      </p:nvGrpSpPr>
      <p:grpSpPr>
        <a:xfrm>
          <a:off x="0" y="0"/>
          <a:ext cx="0" cy="0"/>
          <a:chOff x="0" y="0"/>
          <a:chExt cx="0" cy="0"/>
        </a:xfrm>
      </p:grpSpPr>
      <p:sp>
        <p:nvSpPr>
          <p:cNvPr id="12290" name="Title 1">
            <a:extLst>
              <a:ext uri="{FF2B5EF4-FFF2-40B4-BE49-F238E27FC236}">
                <a16:creationId xmlns:a16="http://schemas.microsoft.com/office/drawing/2014/main" id="{E2E2264E-7782-79F7-1E19-F2DD8A39CE1A}"/>
              </a:ext>
            </a:extLst>
          </p:cNvPr>
          <p:cNvSpPr>
            <a:spLocks noGrp="1"/>
          </p:cNvSpPr>
          <p:nvPr>
            <p:ph type="title"/>
          </p:nvPr>
        </p:nvSpPr>
        <p:spPr/>
        <p:txBody>
          <a:bodyPr/>
          <a:lstStyle/>
          <a:p>
            <a:pPr eaLnBrk="1" hangingPunct="1"/>
            <a:r>
              <a:rPr lang="en-IN" altLang="en-US" sz="4000" b="1">
                <a:latin typeface="Times New Roman" panose="02020603050405020304" pitchFamily="18" charset="0"/>
                <a:cs typeface="Times New Roman" panose="02020603050405020304" pitchFamily="18" charset="0"/>
              </a:rPr>
              <a:t>Literature Survey</a:t>
            </a:r>
          </a:p>
        </p:txBody>
      </p:sp>
      <p:sp>
        <p:nvSpPr>
          <p:cNvPr id="11267" name="Content Placeholder 2">
            <a:extLst>
              <a:ext uri="{FF2B5EF4-FFF2-40B4-BE49-F238E27FC236}">
                <a16:creationId xmlns:a16="http://schemas.microsoft.com/office/drawing/2014/main" id="{E4714C4E-C87C-7B58-D86F-735FC86ED296}"/>
              </a:ext>
            </a:extLst>
          </p:cNvPr>
          <p:cNvSpPr>
            <a:spLocks noGrp="1"/>
          </p:cNvSpPr>
          <p:nvPr>
            <p:ph idx="1"/>
          </p:nvPr>
        </p:nvSpPr>
        <p:spPr>
          <a:xfrm>
            <a:off x="838200" y="1456915"/>
            <a:ext cx="10515600" cy="1551756"/>
          </a:xfrm>
        </p:spPr>
        <p:txBody>
          <a:bodyPr/>
          <a:lstStyle/>
          <a:p>
            <a:pPr marL="0" indent="0" eaLnBrk="1" hangingPunct="1">
              <a:buNone/>
              <a:defRPr/>
            </a:pPr>
            <a:endParaRPr lang="en-IN" altLang="en-US" dirty="0">
              <a:latin typeface="Times New Roman" panose="02020603050405020304" pitchFamily="18" charset="0"/>
              <a:cs typeface="Times New Roman" panose="02020603050405020304" pitchFamily="18" charset="0"/>
            </a:endParaRPr>
          </a:p>
        </p:txBody>
      </p:sp>
      <p:sp>
        <p:nvSpPr>
          <p:cNvPr id="12292" name="Slide Number Placeholder 7">
            <a:extLst>
              <a:ext uri="{FF2B5EF4-FFF2-40B4-BE49-F238E27FC236}">
                <a16:creationId xmlns:a16="http://schemas.microsoft.com/office/drawing/2014/main" id="{694D65FB-FBD3-F27F-23AF-23100F96B585}"/>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EE1AE39C-A8DF-3940-9207-1DF0B8EDDAF4}" type="slidenum">
              <a:rPr lang="en-IN" altLang="en-US" sz="1200">
                <a:solidFill>
                  <a:srgbClr val="898989"/>
                </a:solidFill>
                <a:latin typeface="Times New Roman" panose="02020603050405020304" pitchFamily="18" charset="0"/>
                <a:cs typeface="Times New Roman" panose="02020603050405020304" pitchFamily="18" charset="0"/>
              </a:rPr>
              <a:pPr>
                <a:lnSpc>
                  <a:spcPct val="100000"/>
                </a:lnSpc>
                <a:spcBef>
                  <a:spcPct val="0"/>
                </a:spcBef>
                <a:buFontTx/>
                <a:buNone/>
              </a:pPr>
              <a:t>9</a:t>
            </a:fld>
            <a:endParaRPr lang="en-IN" altLang="en-US" sz="1200">
              <a:solidFill>
                <a:srgbClr val="898989"/>
              </a:solidFill>
              <a:latin typeface="Times New Roman" panose="02020603050405020304" pitchFamily="18" charset="0"/>
              <a:cs typeface="Times New Roman" panose="02020603050405020304" pitchFamily="18" charset="0"/>
            </a:endParaRPr>
          </a:p>
        </p:txBody>
      </p:sp>
      <p:sp>
        <p:nvSpPr>
          <p:cNvPr id="9" name="Footer Placeholder 8">
            <a:extLst>
              <a:ext uri="{FF2B5EF4-FFF2-40B4-BE49-F238E27FC236}">
                <a16:creationId xmlns:a16="http://schemas.microsoft.com/office/drawing/2014/main" id="{9D4922F8-063F-C418-AA53-FA574F3E14AD}"/>
              </a:ext>
            </a:extLst>
          </p:cNvPr>
          <p:cNvSpPr>
            <a:spLocks noGrp="1"/>
          </p:cNvSpPr>
          <p:nvPr>
            <p:ph type="ftr" sz="quarter" idx="10"/>
          </p:nvPr>
        </p:nvSpPr>
        <p:spPr>
          <a:xfrm>
            <a:off x="0" y="6308725"/>
            <a:ext cx="7904163" cy="412750"/>
          </a:xfrm>
        </p:spPr>
        <p:txBody>
          <a:bodyPr/>
          <a:lstStyle/>
          <a:p>
            <a:pPr>
              <a:defRPr/>
            </a:pPr>
            <a:r>
              <a:rPr lang="en-US" dirty="0">
                <a:latin typeface="Times New Roman" panose="02020603050405020304" pitchFamily="18" charset="0"/>
                <a:cs typeface="Times New Roman" panose="02020603050405020304" pitchFamily="18" charset="0"/>
              </a:rPr>
              <a:t>Dept of CSE,GAT                                                                                                    2024-25                                                                                                                                                                        </a:t>
            </a:r>
            <a:endParaRPr lang="en-IN"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0F363FAD-4DCD-6B70-64C8-B7DB275FBFAD}"/>
              </a:ext>
            </a:extLst>
          </p:cNvPr>
          <p:cNvGraphicFramePr>
            <a:graphicFrameLocks noGrp="1"/>
          </p:cNvGraphicFramePr>
          <p:nvPr>
            <p:extLst>
              <p:ext uri="{D42A27DB-BD31-4B8C-83A1-F6EECF244321}">
                <p14:modId xmlns:p14="http://schemas.microsoft.com/office/powerpoint/2010/main" val="2863927740"/>
              </p:ext>
            </p:extLst>
          </p:nvPr>
        </p:nvGraphicFramePr>
        <p:xfrm>
          <a:off x="658813" y="1456921"/>
          <a:ext cx="10694987" cy="4556915"/>
        </p:xfrm>
        <a:graphic>
          <a:graphicData uri="http://schemas.openxmlformats.org/drawingml/2006/table">
            <a:tbl>
              <a:tblPr firstRow="1" bandRow="1">
                <a:tableStyleId>{5C22544A-7EE6-4342-B048-85BDC9FD1C3A}</a:tableStyleId>
              </a:tblPr>
              <a:tblGrid>
                <a:gridCol w="598260">
                  <a:extLst>
                    <a:ext uri="{9D8B030D-6E8A-4147-A177-3AD203B41FA5}">
                      <a16:colId xmlns:a16="http://schemas.microsoft.com/office/drawing/2014/main" val="3574709401"/>
                    </a:ext>
                  </a:extLst>
                </a:gridCol>
                <a:gridCol w="1873708">
                  <a:extLst>
                    <a:ext uri="{9D8B030D-6E8A-4147-A177-3AD203B41FA5}">
                      <a16:colId xmlns:a16="http://schemas.microsoft.com/office/drawing/2014/main" val="848083800"/>
                    </a:ext>
                  </a:extLst>
                </a:gridCol>
                <a:gridCol w="2420933">
                  <a:extLst>
                    <a:ext uri="{9D8B030D-6E8A-4147-A177-3AD203B41FA5}">
                      <a16:colId xmlns:a16="http://schemas.microsoft.com/office/drawing/2014/main" val="1708821697"/>
                    </a:ext>
                  </a:extLst>
                </a:gridCol>
                <a:gridCol w="3515578">
                  <a:extLst>
                    <a:ext uri="{9D8B030D-6E8A-4147-A177-3AD203B41FA5}">
                      <a16:colId xmlns:a16="http://schemas.microsoft.com/office/drawing/2014/main" val="2669523253"/>
                    </a:ext>
                  </a:extLst>
                </a:gridCol>
                <a:gridCol w="2286508">
                  <a:extLst>
                    <a:ext uri="{9D8B030D-6E8A-4147-A177-3AD203B41FA5}">
                      <a16:colId xmlns:a16="http://schemas.microsoft.com/office/drawing/2014/main" val="2358187058"/>
                    </a:ext>
                  </a:extLst>
                </a:gridCol>
              </a:tblGrid>
              <a:tr h="993641">
                <a:tc>
                  <a:txBody>
                    <a:bodyPr/>
                    <a:lstStyle/>
                    <a:p>
                      <a:pPr algn="ctr"/>
                      <a:r>
                        <a:rPr lang="en-US" sz="1800" dirty="0">
                          <a:latin typeface="Cambria" panose="02040503050406030204" pitchFamily="18" charset="0"/>
                          <a:ea typeface="Cambria" panose="02040503050406030204" pitchFamily="18" charset="0"/>
                        </a:rPr>
                        <a:t>Sl. #</a:t>
                      </a:r>
                    </a:p>
                  </a:txBody>
                  <a:tcPr marL="91453" marR="91453" marT="45731" marB="4573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Title and Author</a:t>
                      </a:r>
                    </a:p>
                  </a:txBody>
                  <a:tcPr marL="91453" marR="91453" marT="45731" marB="45731"/>
                </a:tc>
                <a:tc>
                  <a:txBody>
                    <a:bodyPr/>
                    <a:lstStyle/>
                    <a:p>
                      <a:pPr algn="ctr"/>
                      <a:r>
                        <a:rPr lang="en-US" sz="1800" dirty="0">
                          <a:latin typeface="Cambria" panose="02040503050406030204" pitchFamily="18" charset="0"/>
                          <a:ea typeface="Cambria" panose="02040503050406030204" pitchFamily="18" charset="0"/>
                        </a:rPr>
                        <a:t>Scopus/SCI</a:t>
                      </a:r>
                    </a:p>
                    <a:p>
                      <a:pPr algn="ctr"/>
                      <a:r>
                        <a:rPr lang="en-US" sz="1800" dirty="0">
                          <a:latin typeface="Cambria" panose="02040503050406030204" pitchFamily="18" charset="0"/>
                          <a:ea typeface="Cambria" panose="02040503050406030204" pitchFamily="18" charset="0"/>
                        </a:rPr>
                        <a:t>Date of Publication</a:t>
                      </a:r>
                    </a:p>
                  </a:txBody>
                  <a:tcPr marL="91453" marR="91453" marT="45731" marB="4573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Dataset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 and Methodology Used</a:t>
                      </a:r>
                    </a:p>
                  </a:txBody>
                  <a:tcPr marL="91453" marR="91453" marT="45731" marB="4573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Research Gap</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Identified/Limitation</a:t>
                      </a:r>
                    </a:p>
                  </a:txBody>
                  <a:tcPr marL="91453" marR="91453" marT="45731" marB="45731"/>
                </a:tc>
                <a:extLst>
                  <a:ext uri="{0D108BD9-81ED-4DB2-BD59-A6C34878D82A}">
                    <a16:rowId xmlns:a16="http://schemas.microsoft.com/office/drawing/2014/main" val="3112410775"/>
                  </a:ext>
                </a:extLst>
              </a:tr>
              <a:tr h="1595301">
                <a:tc>
                  <a:txBody>
                    <a:bodyPr/>
                    <a:lstStyle/>
                    <a:p>
                      <a:pPr algn="ctr"/>
                      <a:r>
                        <a:rPr lang="en-US" sz="1100" dirty="0">
                          <a:latin typeface="Times New Roman" panose="02020603050405020304" pitchFamily="18" charset="0"/>
                          <a:ea typeface="Cambria" panose="02040503050406030204" pitchFamily="18" charset="0"/>
                          <a:cs typeface="Times New Roman" panose="02020603050405020304" pitchFamily="18" charset="0"/>
                        </a:rPr>
                        <a:t>5</a:t>
                      </a:r>
                    </a:p>
                  </a:txBody>
                  <a:tcPr marL="91453" marR="91453" marT="45731" marB="45731"/>
                </a:tc>
                <a:tc>
                  <a:txBody>
                    <a:bodyPr/>
                    <a:lstStyle/>
                    <a:p>
                      <a:pPr algn="just"/>
                      <a:r>
                        <a:rPr lang="en-IN" sz="1100" kern="1200" dirty="0">
                          <a:solidFill>
                            <a:schemeClr val="dk1"/>
                          </a:solidFill>
                          <a:effectLst/>
                          <a:latin typeface="Times New Roman" panose="02020603050405020304" pitchFamily="18" charset="0"/>
                          <a:ea typeface="+mn-ea"/>
                          <a:cs typeface="Times New Roman" panose="02020603050405020304" pitchFamily="18" charset="0"/>
                        </a:rPr>
                        <a:t>Accurate AI-Driven Emergency Vehicle Location</a:t>
                      </a:r>
                    </a:p>
                    <a:p>
                      <a:pPr algn="just"/>
                      <a:r>
                        <a:rPr lang="en-IN" sz="1100" kern="1200" dirty="0">
                          <a:solidFill>
                            <a:schemeClr val="dk1"/>
                          </a:solidFill>
                          <a:effectLst/>
                          <a:latin typeface="Times New Roman" panose="02020603050405020304" pitchFamily="18" charset="0"/>
                          <a:ea typeface="+mn-ea"/>
                          <a:cs typeface="Times New Roman" panose="02020603050405020304" pitchFamily="18" charset="0"/>
                        </a:rPr>
                        <a:t>Tracking in Healthcare ITS Digital Twin.</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dirty="0">
                          <a:latin typeface="Times New Roman" panose="02020603050405020304" pitchFamily="18" charset="0"/>
                          <a:ea typeface="Cambria" panose="02040503050406030204" pitchFamily="18" charset="0"/>
                          <a:cs typeface="Times New Roman" panose="02020603050405020304" pitchFamily="18" charset="0"/>
                        </a:rPr>
                        <a:t>Authors:</a:t>
                      </a:r>
                      <a:r>
                        <a:rPr lang="en-IN" sz="1100" kern="1200" dirty="0">
                          <a:solidFill>
                            <a:schemeClr val="dk1"/>
                          </a:solidFill>
                          <a:effectLst/>
                          <a:latin typeface="Times New Roman" panose="02020603050405020304" pitchFamily="18" charset="0"/>
                          <a:ea typeface="+mn-ea"/>
                          <a:cs typeface="Times New Roman" panose="02020603050405020304" pitchFamily="18" charset="0"/>
                        </a:rPr>
                        <a:t>Sarah Al-Shareeda, Yasar Celik, Bilge Bilgili, Ahmed Al-Dubai and Berk </a:t>
                      </a:r>
                      <a:r>
                        <a:rPr lang="en-IN" sz="1100" kern="1200" dirty="0" err="1">
                          <a:solidFill>
                            <a:schemeClr val="dk1"/>
                          </a:solidFill>
                          <a:effectLst/>
                          <a:latin typeface="Times New Roman" panose="02020603050405020304" pitchFamily="18" charset="0"/>
                          <a:ea typeface="+mn-ea"/>
                          <a:cs typeface="Times New Roman" panose="02020603050405020304" pitchFamily="18" charset="0"/>
                        </a:rPr>
                        <a:t>Canberk</a:t>
                      </a:r>
                      <a:endParaRPr lang="en-IN" sz="1100" kern="1200" dirty="0">
                        <a:solidFill>
                          <a:schemeClr val="dk1"/>
                        </a:solidFill>
                        <a:effectLst/>
                        <a:latin typeface="Times New Roman" panose="02020603050405020304" pitchFamily="18" charset="0"/>
                        <a:ea typeface="+mn-ea"/>
                        <a:cs typeface="Times New Roman" panose="02020603050405020304" pitchFamily="18" charset="0"/>
                      </a:endParaRPr>
                    </a:p>
                    <a:p>
                      <a:pPr algn="just"/>
                      <a:endParaRPr lang="en-US" sz="1100" dirty="0">
                        <a:latin typeface="Times New Roman" panose="02020603050405020304" pitchFamily="18" charset="0"/>
                        <a:ea typeface="Cambria" panose="02040503050406030204" pitchFamily="18" charset="0"/>
                        <a:cs typeface="Times New Roman" panose="02020603050405020304" pitchFamily="18" charset="0"/>
                      </a:endParaRPr>
                    </a:p>
                  </a:txBody>
                  <a:tcPr marL="91453" marR="91453" marT="45731" marB="45731"/>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dirty="0">
                          <a:latin typeface="Times New Roman" panose="02020603050405020304" pitchFamily="18" charset="0"/>
                          <a:ea typeface="Cambria" panose="02040503050406030204" pitchFamily="18" charset="0"/>
                          <a:cs typeface="Times New Roman" panose="02020603050405020304" pitchFamily="18" charset="0"/>
                        </a:rPr>
                        <a:t>Published in </a:t>
                      </a:r>
                      <a:r>
                        <a:rPr lang="en-IN" sz="1100" dirty="0" err="1">
                          <a:latin typeface="Times New Roman" panose="02020603050405020304" pitchFamily="18" charset="0"/>
                          <a:cs typeface="Times New Roman" panose="02020603050405020304" pitchFamily="18" charset="0"/>
                        </a:rPr>
                        <a:t>arXiv</a:t>
                      </a:r>
                      <a:r>
                        <a:rPr lang="en-IN" sz="1100" dirty="0">
                          <a:latin typeface="Times New Roman" panose="02020603050405020304" pitchFamily="18" charset="0"/>
                          <a:cs typeface="Times New Roman" panose="02020603050405020304" pitchFamily="18" charset="0"/>
                        </a:rPr>
                        <a:t>.</a:t>
                      </a:r>
                    </a:p>
                    <a:p>
                      <a:pPr algn="just"/>
                      <a:r>
                        <a:rPr lang="en-US" sz="1100" dirty="0">
                          <a:latin typeface="Times New Roman" panose="02020603050405020304" pitchFamily="18" charset="0"/>
                          <a:ea typeface="Cambria" panose="02040503050406030204" pitchFamily="18" charset="0"/>
                          <a:cs typeface="Times New Roman" panose="02020603050405020304" pitchFamily="18" charset="0"/>
                        </a:rPr>
                        <a:t>Published : </a:t>
                      </a:r>
                      <a:r>
                        <a:rPr lang="en-IN" sz="1100" dirty="0">
                          <a:latin typeface="Times New Roman" panose="02020603050405020304" pitchFamily="18" charset="0"/>
                          <a:cs typeface="Times New Roman" panose="02020603050405020304" pitchFamily="18" charset="0"/>
                        </a:rPr>
                        <a:t>Feb 2025</a:t>
                      </a:r>
                      <a:endParaRPr lang="en-US" sz="1100" dirty="0">
                        <a:latin typeface="Times New Roman" panose="02020603050405020304" pitchFamily="18" charset="0"/>
                        <a:ea typeface="Cambria" panose="02040503050406030204" pitchFamily="18" charset="0"/>
                        <a:cs typeface="Times New Roman" panose="02020603050405020304" pitchFamily="18" charset="0"/>
                      </a:endParaRPr>
                    </a:p>
                  </a:txBody>
                  <a:tcPr marL="91453" marR="91453" marT="45731" marB="45731"/>
                </a:tc>
                <a:tc>
                  <a:txBody>
                    <a:bodyPr/>
                    <a:lstStyle/>
                    <a:p>
                      <a:r>
                        <a:rPr lang="en-IN" sz="1100" dirty="0">
                          <a:latin typeface="Times New Roman" panose="02020603050405020304" pitchFamily="18" charset="0"/>
                          <a:cs typeface="Times New Roman" panose="02020603050405020304" pitchFamily="18" charset="0"/>
                        </a:rPr>
                        <a:t>DNN &amp; SVR models trained on historical ambulance GPS data; simulated Digital Twin in Docker</a:t>
                      </a:r>
                    </a:p>
                  </a:txBody>
                  <a:tcPr/>
                </a:tc>
                <a:tc>
                  <a:txBody>
                    <a:body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100" dirty="0">
                          <a:latin typeface="Times New Roman" panose="02020603050405020304" pitchFamily="18" charset="0"/>
                          <a:cs typeface="Times New Roman" panose="02020603050405020304" pitchFamily="18" charset="0"/>
                        </a:rPr>
                        <a:t>Models tested in mock scenarios; potential generalization issues with small datasets</a:t>
                      </a:r>
                      <a:endParaRPr lang="en-US" sz="1100" b="0" dirty="0">
                        <a:latin typeface="Times New Roman" panose="02020603050405020304" pitchFamily="18" charset="0"/>
                        <a:ea typeface="Cambria" panose="02040503050406030204" pitchFamily="18" charset="0"/>
                        <a:cs typeface="Times New Roman" panose="02020603050405020304" pitchFamily="18" charset="0"/>
                      </a:endParaRPr>
                    </a:p>
                  </a:txBody>
                  <a:tcPr marL="91453" marR="91453" marT="45731" marB="45731"/>
                </a:tc>
                <a:extLst>
                  <a:ext uri="{0D108BD9-81ED-4DB2-BD59-A6C34878D82A}">
                    <a16:rowId xmlns:a16="http://schemas.microsoft.com/office/drawing/2014/main" val="2505083476"/>
                  </a:ext>
                </a:extLst>
              </a:tr>
              <a:tr h="1963052">
                <a:tc>
                  <a:txBody>
                    <a:bodyPr/>
                    <a:lstStyle/>
                    <a:p>
                      <a:pPr algn="ctr"/>
                      <a:r>
                        <a:rPr lang="en-US" sz="1100" dirty="0">
                          <a:latin typeface="Times New Roman" panose="02020603050405020304" pitchFamily="18" charset="0"/>
                          <a:ea typeface="Cambria" panose="02040503050406030204" pitchFamily="18" charset="0"/>
                          <a:cs typeface="Times New Roman" panose="02020603050405020304" pitchFamily="18" charset="0"/>
                        </a:rPr>
                        <a:t>6</a:t>
                      </a:r>
                    </a:p>
                  </a:txBody>
                  <a:tcPr marL="91453" marR="91453" marT="45731" marB="45731"/>
                </a:tc>
                <a:tc>
                  <a:txBody>
                    <a:bodyPr/>
                    <a:lstStyle/>
                    <a:p>
                      <a:pPr algn="just"/>
                      <a:r>
                        <a:rPr lang="en-IN" sz="1100" b="0" kern="1200" dirty="0">
                          <a:solidFill>
                            <a:schemeClr val="dk1"/>
                          </a:solidFill>
                          <a:effectLst/>
                          <a:latin typeface="Times New Roman" panose="02020603050405020304" pitchFamily="18" charset="0"/>
                          <a:ea typeface="+mn-ea"/>
                          <a:cs typeface="Times New Roman" panose="02020603050405020304" pitchFamily="18" charset="0"/>
                        </a:rPr>
                        <a:t>IOT Smart Ambulance: Revolutionizing Emergency</a:t>
                      </a:r>
                    </a:p>
                    <a:p>
                      <a:pPr algn="just"/>
                      <a:r>
                        <a:rPr lang="en-IN" sz="1100" b="0" kern="1200" dirty="0">
                          <a:solidFill>
                            <a:schemeClr val="dk1"/>
                          </a:solidFill>
                          <a:effectLst/>
                          <a:latin typeface="Times New Roman" panose="02020603050405020304" pitchFamily="18" charset="0"/>
                          <a:ea typeface="+mn-ea"/>
                          <a:cs typeface="Times New Roman" panose="02020603050405020304" pitchFamily="18" charset="0"/>
                        </a:rPr>
                        <a:t>Response &amp; Patient Care.</a:t>
                      </a:r>
                    </a:p>
                    <a:p>
                      <a:pPr marL="0" marR="0" lvl="0" indent="0" algn="just" defTabSz="914400" rtl="0" eaLnBrk="1" fontAlgn="auto" latinLnBrk="0" hangingPunct="1">
                        <a:lnSpc>
                          <a:spcPct val="100000"/>
                        </a:lnSpc>
                        <a:spcBef>
                          <a:spcPts val="0"/>
                        </a:spcBef>
                        <a:spcAft>
                          <a:spcPts val="0"/>
                        </a:spcAft>
                        <a:buClrTx/>
                        <a:buSzTx/>
                        <a:buFontTx/>
                        <a:buNone/>
                        <a:tabLst/>
                        <a:defRPr/>
                      </a:pPr>
                      <a:r>
                        <a:rPr lang="en-IN" sz="1100" b="0" kern="1200" dirty="0">
                          <a:solidFill>
                            <a:schemeClr val="dk1"/>
                          </a:solidFill>
                          <a:effectLst/>
                          <a:latin typeface="Times New Roman" panose="02020603050405020304" pitchFamily="18" charset="0"/>
                          <a:ea typeface="+mn-ea"/>
                          <a:cs typeface="Times New Roman" panose="02020603050405020304" pitchFamily="18" charset="0"/>
                        </a:rPr>
                        <a:t>Author:</a:t>
                      </a:r>
                      <a:r>
                        <a:rPr lang="en-IN" sz="1100" kern="1200" dirty="0">
                          <a:solidFill>
                            <a:schemeClr val="dk1"/>
                          </a:solidFill>
                          <a:effectLst/>
                          <a:latin typeface="Times New Roman" panose="02020603050405020304" pitchFamily="18" charset="0"/>
                          <a:ea typeface="+mn-ea"/>
                          <a:cs typeface="Times New Roman" panose="02020603050405020304" pitchFamily="18" charset="0"/>
                        </a:rPr>
                        <a:t> Sakthidevi, S </a:t>
                      </a:r>
                      <a:r>
                        <a:rPr lang="en-IN" sz="1100" kern="1200" dirty="0" err="1">
                          <a:solidFill>
                            <a:schemeClr val="dk1"/>
                          </a:solidFill>
                          <a:effectLst/>
                          <a:latin typeface="Times New Roman" panose="02020603050405020304" pitchFamily="18" charset="0"/>
                          <a:ea typeface="+mn-ea"/>
                          <a:cs typeface="Times New Roman" panose="02020603050405020304" pitchFamily="18" charset="0"/>
                        </a:rPr>
                        <a:t>Megha,G</a:t>
                      </a:r>
                      <a:r>
                        <a:rPr lang="en-IN" sz="1100" kern="1200" dirty="0">
                          <a:solidFill>
                            <a:schemeClr val="dk1"/>
                          </a:solidFill>
                          <a:effectLst/>
                          <a:latin typeface="Times New Roman" panose="02020603050405020304" pitchFamily="18" charset="0"/>
                          <a:ea typeface="+mn-ea"/>
                          <a:cs typeface="Times New Roman" panose="02020603050405020304" pitchFamily="18" charset="0"/>
                        </a:rPr>
                        <a:t> </a:t>
                      </a:r>
                      <a:r>
                        <a:rPr lang="en-IN" sz="1100" kern="1200" dirty="0" err="1">
                          <a:solidFill>
                            <a:schemeClr val="dk1"/>
                          </a:solidFill>
                          <a:effectLst/>
                          <a:latin typeface="Times New Roman" panose="02020603050405020304" pitchFamily="18" charset="0"/>
                          <a:ea typeface="+mn-ea"/>
                          <a:cs typeface="Times New Roman" panose="02020603050405020304" pitchFamily="18" charset="0"/>
                        </a:rPr>
                        <a:t>Hindhushree,U</a:t>
                      </a:r>
                      <a:r>
                        <a:rPr lang="en-IN" sz="1100" kern="1200" dirty="0">
                          <a:solidFill>
                            <a:schemeClr val="dk1"/>
                          </a:solidFill>
                          <a:effectLst/>
                          <a:latin typeface="Times New Roman" panose="02020603050405020304" pitchFamily="18" charset="0"/>
                          <a:ea typeface="+mn-ea"/>
                          <a:cs typeface="Times New Roman" panose="02020603050405020304" pitchFamily="18" charset="0"/>
                        </a:rPr>
                        <a:t> Abarna ,V Ruba</a:t>
                      </a:r>
                    </a:p>
                    <a:p>
                      <a:pPr algn="just"/>
                      <a:endParaRPr lang="en-IN" sz="1100" b="0" kern="1200" dirty="0">
                        <a:solidFill>
                          <a:schemeClr val="dk1"/>
                        </a:solidFill>
                        <a:effectLst/>
                        <a:latin typeface="Times New Roman" panose="02020603050405020304" pitchFamily="18" charset="0"/>
                        <a:ea typeface="+mn-ea"/>
                        <a:cs typeface="Times New Roman" panose="02020603050405020304" pitchFamily="18" charset="0"/>
                      </a:endParaRPr>
                    </a:p>
                    <a:p>
                      <a:pPr algn="just"/>
                      <a:endParaRPr lang="en-US" sz="1100" dirty="0">
                        <a:latin typeface="Times New Roman" panose="02020603050405020304" pitchFamily="18" charset="0"/>
                        <a:ea typeface="Cambria" panose="02040503050406030204" pitchFamily="18" charset="0"/>
                        <a:cs typeface="Times New Roman" panose="02020603050405020304" pitchFamily="18" charset="0"/>
                      </a:endParaRPr>
                    </a:p>
                  </a:txBody>
                  <a:tcPr marL="91453" marR="91453" marT="45731" marB="45731"/>
                </a:tc>
                <a:tc>
                  <a:txBody>
                    <a:bodyPr/>
                    <a:lstStyle/>
                    <a:p>
                      <a:pPr algn="just"/>
                      <a:r>
                        <a:rPr lang="en-IN" sz="1100" dirty="0">
                          <a:latin typeface="Times New Roman" panose="02020603050405020304" pitchFamily="18" charset="0"/>
                          <a:cs typeface="Times New Roman" panose="02020603050405020304" pitchFamily="18" charset="0"/>
                        </a:rPr>
                        <a:t>International Journal Of Creative Research Thoughts.(IJCRT).</a:t>
                      </a:r>
                    </a:p>
                    <a:p>
                      <a:pPr algn="just"/>
                      <a:r>
                        <a:rPr lang="en-US" sz="1100" dirty="0">
                          <a:latin typeface="Times New Roman" panose="02020603050405020304" pitchFamily="18" charset="0"/>
                          <a:ea typeface="Cambria" panose="02040503050406030204" pitchFamily="18" charset="0"/>
                          <a:cs typeface="Times New Roman" panose="02020603050405020304" pitchFamily="18" charset="0"/>
                        </a:rPr>
                        <a:t>Published : </a:t>
                      </a:r>
                      <a:r>
                        <a:rPr lang="en-IN" sz="1100" dirty="0">
                          <a:latin typeface="Times New Roman" panose="02020603050405020304" pitchFamily="18" charset="0"/>
                          <a:cs typeface="Times New Roman" panose="02020603050405020304" pitchFamily="18" charset="0"/>
                        </a:rPr>
                        <a:t>March 2024</a:t>
                      </a:r>
                    </a:p>
                  </a:txBody>
                  <a:tcPr marL="91453" marR="91453" marT="45731" marB="45731"/>
                </a:tc>
                <a:tc>
                  <a:txBody>
                    <a:bodyPr/>
                    <a:lstStyle/>
                    <a:p>
                      <a:pPr algn="just"/>
                      <a:r>
                        <a:rPr lang="en-IN" sz="1100" dirty="0">
                          <a:latin typeface="Times New Roman" panose="02020603050405020304" pitchFamily="18" charset="0"/>
                          <a:cs typeface="Times New Roman" panose="02020603050405020304" pitchFamily="18" charset="0"/>
                        </a:rPr>
                        <a:t>Conceptual study with no explicit dataset; discusses real-time monitoring via IoT</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100" dirty="0">
                          <a:latin typeface="Times New Roman" panose="02020603050405020304" pitchFamily="18" charset="0"/>
                          <a:cs typeface="Times New Roman" panose="02020603050405020304" pitchFamily="18" charset="0"/>
                        </a:rPr>
                        <a:t>Lacks real-world implementation and empirical validation</a:t>
                      </a:r>
                      <a:endParaRPr lang="en-US" sz="1100" dirty="0">
                        <a:latin typeface="Times New Roman" panose="02020603050405020304" pitchFamily="18" charset="0"/>
                        <a:ea typeface="Cambria" panose="02040503050406030204" pitchFamily="18" charset="0"/>
                        <a:cs typeface="Times New Roman" panose="02020603050405020304" pitchFamily="18" charset="0"/>
                      </a:endParaRPr>
                    </a:p>
                  </a:txBody>
                  <a:tcPr marL="91453" marR="91453" marT="45731" marB="45731"/>
                </a:tc>
                <a:extLst>
                  <a:ext uri="{0D108BD9-81ED-4DB2-BD59-A6C34878D82A}">
                    <a16:rowId xmlns:a16="http://schemas.microsoft.com/office/drawing/2014/main" val="666209038"/>
                  </a:ext>
                </a:extLst>
              </a:tr>
            </a:tbl>
          </a:graphicData>
        </a:graphic>
      </p:graphicFrame>
    </p:spTree>
    <p:extLst>
      <p:ext uri="{BB962C8B-B14F-4D97-AF65-F5344CB8AC3E}">
        <p14:creationId xmlns:p14="http://schemas.microsoft.com/office/powerpoint/2010/main" val="2943973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B673C-E85E-76A9-2C85-F331A7F9D928}"/>
            </a:ext>
          </a:extLst>
        </p:cNvPr>
        <p:cNvGrpSpPr/>
        <p:nvPr/>
      </p:nvGrpSpPr>
      <p:grpSpPr>
        <a:xfrm>
          <a:off x="0" y="0"/>
          <a:ext cx="0" cy="0"/>
          <a:chOff x="0" y="0"/>
          <a:chExt cx="0" cy="0"/>
        </a:xfrm>
      </p:grpSpPr>
      <p:sp>
        <p:nvSpPr>
          <p:cNvPr id="12290" name="Title 1">
            <a:extLst>
              <a:ext uri="{FF2B5EF4-FFF2-40B4-BE49-F238E27FC236}">
                <a16:creationId xmlns:a16="http://schemas.microsoft.com/office/drawing/2014/main" id="{45E500E0-EAAE-A23D-97C7-D63EADC92824}"/>
              </a:ext>
            </a:extLst>
          </p:cNvPr>
          <p:cNvSpPr>
            <a:spLocks noGrp="1"/>
          </p:cNvSpPr>
          <p:nvPr>
            <p:ph type="title"/>
          </p:nvPr>
        </p:nvSpPr>
        <p:spPr/>
        <p:txBody>
          <a:bodyPr/>
          <a:lstStyle/>
          <a:p>
            <a:pPr eaLnBrk="1" hangingPunct="1"/>
            <a:r>
              <a:rPr lang="en-IN" altLang="en-US" sz="4000" b="1">
                <a:latin typeface="Times New Roman" panose="02020603050405020304" pitchFamily="18" charset="0"/>
                <a:cs typeface="Times New Roman" panose="02020603050405020304" pitchFamily="18" charset="0"/>
              </a:rPr>
              <a:t>Literature Survey</a:t>
            </a:r>
          </a:p>
        </p:txBody>
      </p:sp>
      <p:sp>
        <p:nvSpPr>
          <p:cNvPr id="11267" name="Content Placeholder 2">
            <a:extLst>
              <a:ext uri="{FF2B5EF4-FFF2-40B4-BE49-F238E27FC236}">
                <a16:creationId xmlns:a16="http://schemas.microsoft.com/office/drawing/2014/main" id="{B16875A3-A495-A49D-3D87-911551B3FAC9}"/>
              </a:ext>
            </a:extLst>
          </p:cNvPr>
          <p:cNvSpPr>
            <a:spLocks noGrp="1"/>
          </p:cNvSpPr>
          <p:nvPr>
            <p:ph idx="1"/>
          </p:nvPr>
        </p:nvSpPr>
        <p:spPr>
          <a:xfrm>
            <a:off x="838200" y="1456915"/>
            <a:ext cx="10515600" cy="1551756"/>
          </a:xfrm>
        </p:spPr>
        <p:txBody>
          <a:bodyPr/>
          <a:lstStyle/>
          <a:p>
            <a:pPr marL="0" indent="0" eaLnBrk="1" hangingPunct="1">
              <a:buNone/>
              <a:defRPr/>
            </a:pPr>
            <a:endParaRPr lang="en-IN" altLang="en-US" dirty="0">
              <a:latin typeface="Times New Roman" panose="02020603050405020304" pitchFamily="18" charset="0"/>
              <a:cs typeface="Times New Roman" panose="02020603050405020304" pitchFamily="18" charset="0"/>
            </a:endParaRPr>
          </a:p>
        </p:txBody>
      </p:sp>
      <p:sp>
        <p:nvSpPr>
          <p:cNvPr id="12292" name="Slide Number Placeholder 7">
            <a:extLst>
              <a:ext uri="{FF2B5EF4-FFF2-40B4-BE49-F238E27FC236}">
                <a16:creationId xmlns:a16="http://schemas.microsoft.com/office/drawing/2014/main" id="{57FD1EE9-35D6-3046-A699-12F5651B3960}"/>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EE1AE39C-A8DF-3940-9207-1DF0B8EDDAF4}" type="slidenum">
              <a:rPr lang="en-IN" altLang="en-US" sz="1200">
                <a:solidFill>
                  <a:srgbClr val="898989"/>
                </a:solidFill>
                <a:latin typeface="Times New Roman" panose="02020603050405020304" pitchFamily="18" charset="0"/>
                <a:cs typeface="Times New Roman" panose="02020603050405020304" pitchFamily="18" charset="0"/>
              </a:rPr>
              <a:pPr>
                <a:lnSpc>
                  <a:spcPct val="100000"/>
                </a:lnSpc>
                <a:spcBef>
                  <a:spcPct val="0"/>
                </a:spcBef>
                <a:buFontTx/>
                <a:buNone/>
              </a:pPr>
              <a:t>10</a:t>
            </a:fld>
            <a:endParaRPr lang="en-IN" altLang="en-US" sz="1200">
              <a:solidFill>
                <a:srgbClr val="898989"/>
              </a:solidFill>
              <a:latin typeface="Times New Roman" panose="02020603050405020304" pitchFamily="18" charset="0"/>
              <a:cs typeface="Times New Roman" panose="02020603050405020304" pitchFamily="18" charset="0"/>
            </a:endParaRPr>
          </a:p>
        </p:txBody>
      </p:sp>
      <p:sp>
        <p:nvSpPr>
          <p:cNvPr id="9" name="Footer Placeholder 8">
            <a:extLst>
              <a:ext uri="{FF2B5EF4-FFF2-40B4-BE49-F238E27FC236}">
                <a16:creationId xmlns:a16="http://schemas.microsoft.com/office/drawing/2014/main" id="{446B2934-1C45-B805-6E2F-915011084CB1}"/>
              </a:ext>
            </a:extLst>
          </p:cNvPr>
          <p:cNvSpPr>
            <a:spLocks noGrp="1"/>
          </p:cNvSpPr>
          <p:nvPr>
            <p:ph type="ftr" sz="quarter" idx="10"/>
          </p:nvPr>
        </p:nvSpPr>
        <p:spPr>
          <a:xfrm>
            <a:off x="0" y="6308725"/>
            <a:ext cx="7904163" cy="412750"/>
          </a:xfrm>
        </p:spPr>
        <p:txBody>
          <a:bodyPr/>
          <a:lstStyle/>
          <a:p>
            <a:pPr>
              <a:defRPr/>
            </a:pPr>
            <a:r>
              <a:rPr lang="en-US" dirty="0">
                <a:latin typeface="Times New Roman" panose="02020603050405020304" pitchFamily="18" charset="0"/>
                <a:cs typeface="Times New Roman" panose="02020603050405020304" pitchFamily="18" charset="0"/>
              </a:rPr>
              <a:t>Dept of CSE,GAT                                                                                                    2024-25                                                                                                                                                                        </a:t>
            </a:r>
            <a:endParaRPr lang="en-IN"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0DBDD27E-AB12-B57B-AE9F-195728B340D0}"/>
              </a:ext>
            </a:extLst>
          </p:cNvPr>
          <p:cNvGraphicFramePr>
            <a:graphicFrameLocks noGrp="1"/>
          </p:cNvGraphicFramePr>
          <p:nvPr>
            <p:extLst>
              <p:ext uri="{D42A27DB-BD31-4B8C-83A1-F6EECF244321}">
                <p14:modId xmlns:p14="http://schemas.microsoft.com/office/powerpoint/2010/main" val="1064849712"/>
              </p:ext>
            </p:extLst>
          </p:nvPr>
        </p:nvGraphicFramePr>
        <p:xfrm>
          <a:off x="658813" y="1456919"/>
          <a:ext cx="10694987" cy="4910121"/>
        </p:xfrm>
        <a:graphic>
          <a:graphicData uri="http://schemas.openxmlformats.org/drawingml/2006/table">
            <a:tbl>
              <a:tblPr firstRow="1" bandRow="1">
                <a:tableStyleId>{5C22544A-7EE6-4342-B048-85BDC9FD1C3A}</a:tableStyleId>
              </a:tblPr>
              <a:tblGrid>
                <a:gridCol w="598260">
                  <a:extLst>
                    <a:ext uri="{9D8B030D-6E8A-4147-A177-3AD203B41FA5}">
                      <a16:colId xmlns:a16="http://schemas.microsoft.com/office/drawing/2014/main" val="3574709401"/>
                    </a:ext>
                  </a:extLst>
                </a:gridCol>
                <a:gridCol w="1873708">
                  <a:extLst>
                    <a:ext uri="{9D8B030D-6E8A-4147-A177-3AD203B41FA5}">
                      <a16:colId xmlns:a16="http://schemas.microsoft.com/office/drawing/2014/main" val="848083800"/>
                    </a:ext>
                  </a:extLst>
                </a:gridCol>
                <a:gridCol w="2420933">
                  <a:extLst>
                    <a:ext uri="{9D8B030D-6E8A-4147-A177-3AD203B41FA5}">
                      <a16:colId xmlns:a16="http://schemas.microsoft.com/office/drawing/2014/main" val="1708821697"/>
                    </a:ext>
                  </a:extLst>
                </a:gridCol>
                <a:gridCol w="3515578">
                  <a:extLst>
                    <a:ext uri="{9D8B030D-6E8A-4147-A177-3AD203B41FA5}">
                      <a16:colId xmlns:a16="http://schemas.microsoft.com/office/drawing/2014/main" val="2669523253"/>
                    </a:ext>
                  </a:extLst>
                </a:gridCol>
                <a:gridCol w="2286508">
                  <a:extLst>
                    <a:ext uri="{9D8B030D-6E8A-4147-A177-3AD203B41FA5}">
                      <a16:colId xmlns:a16="http://schemas.microsoft.com/office/drawing/2014/main" val="2358187058"/>
                    </a:ext>
                  </a:extLst>
                </a:gridCol>
              </a:tblGrid>
              <a:tr h="1216521">
                <a:tc>
                  <a:txBody>
                    <a:bodyPr/>
                    <a:lstStyle/>
                    <a:p>
                      <a:pPr algn="ctr"/>
                      <a:r>
                        <a:rPr lang="en-US" sz="1800" dirty="0">
                          <a:latin typeface="Cambria" panose="02040503050406030204" pitchFamily="18" charset="0"/>
                          <a:ea typeface="Cambria" panose="02040503050406030204" pitchFamily="18" charset="0"/>
                        </a:rPr>
                        <a:t>Sl. #</a:t>
                      </a:r>
                    </a:p>
                  </a:txBody>
                  <a:tcPr marL="91453" marR="91453" marT="45731" marB="4573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Title and Author</a:t>
                      </a:r>
                    </a:p>
                  </a:txBody>
                  <a:tcPr marL="91453" marR="91453" marT="45731" marB="45731"/>
                </a:tc>
                <a:tc>
                  <a:txBody>
                    <a:bodyPr/>
                    <a:lstStyle/>
                    <a:p>
                      <a:pPr algn="ctr"/>
                      <a:r>
                        <a:rPr lang="en-US" sz="1800" dirty="0">
                          <a:latin typeface="Cambria" panose="02040503050406030204" pitchFamily="18" charset="0"/>
                          <a:ea typeface="Cambria" panose="02040503050406030204" pitchFamily="18" charset="0"/>
                        </a:rPr>
                        <a:t>Scopus/SCI</a:t>
                      </a:r>
                    </a:p>
                    <a:p>
                      <a:pPr algn="ctr"/>
                      <a:r>
                        <a:rPr lang="en-US" sz="1800" dirty="0">
                          <a:latin typeface="Cambria" panose="02040503050406030204" pitchFamily="18" charset="0"/>
                          <a:ea typeface="Cambria" panose="02040503050406030204" pitchFamily="18" charset="0"/>
                        </a:rPr>
                        <a:t>Date of Publication</a:t>
                      </a:r>
                    </a:p>
                  </a:txBody>
                  <a:tcPr marL="91453" marR="91453" marT="45731" marB="4573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Dataset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 and Methodology Used</a:t>
                      </a:r>
                    </a:p>
                  </a:txBody>
                  <a:tcPr marL="91453" marR="91453" marT="45731" marB="4573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Research Gap</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Identified/Limitation</a:t>
                      </a:r>
                    </a:p>
                  </a:txBody>
                  <a:tcPr marL="91453" marR="91453" marT="45731" marB="45731"/>
                </a:tc>
                <a:extLst>
                  <a:ext uri="{0D108BD9-81ED-4DB2-BD59-A6C34878D82A}">
                    <a16:rowId xmlns:a16="http://schemas.microsoft.com/office/drawing/2014/main" val="3112410775"/>
                  </a:ext>
                </a:extLst>
              </a:tr>
              <a:tr h="1924813">
                <a:tc>
                  <a:txBody>
                    <a:bodyPr/>
                    <a:lstStyle/>
                    <a:p>
                      <a:pPr algn="ctr"/>
                      <a:r>
                        <a:rPr lang="en-US" sz="1100" dirty="0">
                          <a:latin typeface="Times New Roman" panose="02020603050405020304" pitchFamily="18" charset="0"/>
                          <a:ea typeface="Cambria" panose="02040503050406030204" pitchFamily="18" charset="0"/>
                          <a:cs typeface="Times New Roman" panose="02020603050405020304" pitchFamily="18" charset="0"/>
                        </a:rPr>
                        <a:t>7</a:t>
                      </a:r>
                    </a:p>
                  </a:txBody>
                  <a:tcPr marL="91453" marR="91453" marT="45731" marB="45731"/>
                </a:tc>
                <a:tc>
                  <a:txBody>
                    <a:bodyPr/>
                    <a:lstStyle/>
                    <a:p>
                      <a:pPr algn="just"/>
                      <a:r>
                        <a:rPr lang="en-IN" sz="1100" b="0" dirty="0">
                          <a:latin typeface="Times New Roman" panose="02020603050405020304" pitchFamily="18" charset="0"/>
                          <a:cs typeface="Times New Roman" panose="02020603050405020304" pitchFamily="18" charset="0"/>
                        </a:rPr>
                        <a:t>AI-Driven Traffic Management System for Emergency Vehicle Prioritization Using YOLO </a:t>
                      </a:r>
                      <a:br>
                        <a:rPr lang="en-IN" sz="1100" dirty="0">
                          <a:latin typeface="Times New Roman" panose="02020603050405020304" pitchFamily="18" charset="0"/>
                          <a:cs typeface="Times New Roman" panose="02020603050405020304" pitchFamily="18" charset="0"/>
                        </a:rPr>
                      </a:br>
                      <a:r>
                        <a:rPr lang="en-IN" sz="1100" b="0" dirty="0">
                          <a:latin typeface="Times New Roman" panose="02020603050405020304" pitchFamily="18" charset="0"/>
                          <a:cs typeface="Times New Roman" panose="02020603050405020304" pitchFamily="18" charset="0"/>
                        </a:rPr>
                        <a:t>Authors</a:t>
                      </a:r>
                      <a:r>
                        <a:rPr lang="en-IN" sz="1100" dirty="0">
                          <a:latin typeface="Times New Roman" panose="02020603050405020304" pitchFamily="18" charset="0"/>
                          <a:cs typeface="Times New Roman" panose="02020603050405020304" pitchFamily="18" charset="0"/>
                        </a:rPr>
                        <a:t>: Lokesh </a:t>
                      </a:r>
                      <a:r>
                        <a:rPr lang="en-IN" sz="1100" dirty="0" err="1">
                          <a:latin typeface="Times New Roman" panose="02020603050405020304" pitchFamily="18" charset="0"/>
                          <a:cs typeface="Times New Roman" panose="02020603050405020304" pitchFamily="18" charset="0"/>
                        </a:rPr>
                        <a:t>Pagare</a:t>
                      </a:r>
                      <a:r>
                        <a:rPr lang="en-IN" sz="1100" dirty="0">
                          <a:latin typeface="Times New Roman" panose="02020603050405020304" pitchFamily="18" charset="0"/>
                          <a:cs typeface="Times New Roman" panose="02020603050405020304" pitchFamily="18" charset="0"/>
                        </a:rPr>
                        <a:t>, Kaivalya </a:t>
                      </a:r>
                      <a:r>
                        <a:rPr lang="en-IN" sz="1100" dirty="0" err="1">
                          <a:latin typeface="Times New Roman" panose="02020603050405020304" pitchFamily="18" charset="0"/>
                          <a:cs typeface="Times New Roman" panose="02020603050405020304" pitchFamily="18" charset="0"/>
                        </a:rPr>
                        <a:t>Pagrut</a:t>
                      </a:r>
                      <a:r>
                        <a:rPr lang="en-IN" sz="1100" dirty="0">
                          <a:latin typeface="Times New Roman" panose="02020603050405020304" pitchFamily="18" charset="0"/>
                          <a:cs typeface="Times New Roman" panose="02020603050405020304" pitchFamily="18" charset="0"/>
                        </a:rPr>
                        <a:t>, </a:t>
                      </a:r>
                      <a:r>
                        <a:rPr lang="en-IN" sz="1100" dirty="0" err="1">
                          <a:latin typeface="Times New Roman" panose="02020603050405020304" pitchFamily="18" charset="0"/>
                          <a:cs typeface="Times New Roman" panose="02020603050405020304" pitchFamily="18" charset="0"/>
                        </a:rPr>
                        <a:t>Labhesh</a:t>
                      </a:r>
                      <a:r>
                        <a:rPr lang="en-IN" sz="1100" dirty="0">
                          <a:latin typeface="Times New Roman" panose="02020603050405020304" pitchFamily="18" charset="0"/>
                          <a:cs typeface="Times New Roman" panose="02020603050405020304" pitchFamily="18" charset="0"/>
                        </a:rPr>
                        <a:t> </a:t>
                      </a:r>
                      <a:r>
                        <a:rPr lang="en-IN" sz="1100" dirty="0" err="1">
                          <a:latin typeface="Times New Roman" panose="02020603050405020304" pitchFamily="18" charset="0"/>
                          <a:cs typeface="Times New Roman" panose="02020603050405020304" pitchFamily="18" charset="0"/>
                        </a:rPr>
                        <a:t>Pahade</a:t>
                      </a:r>
                      <a:r>
                        <a:rPr lang="en-IN" sz="1100" dirty="0">
                          <a:latin typeface="Times New Roman" panose="02020603050405020304" pitchFamily="18" charset="0"/>
                          <a:cs typeface="Times New Roman" panose="02020603050405020304" pitchFamily="18" charset="0"/>
                        </a:rPr>
                        <a:t>, Suyash </a:t>
                      </a:r>
                      <a:r>
                        <a:rPr lang="en-IN" sz="1100" dirty="0" err="1">
                          <a:latin typeface="Times New Roman" panose="02020603050405020304" pitchFamily="18" charset="0"/>
                          <a:cs typeface="Times New Roman" panose="02020603050405020304" pitchFamily="18" charset="0"/>
                        </a:rPr>
                        <a:t>Pahare</a:t>
                      </a:r>
                      <a:r>
                        <a:rPr lang="en-IN" sz="1100" dirty="0">
                          <a:latin typeface="Times New Roman" panose="02020603050405020304" pitchFamily="18" charset="0"/>
                          <a:cs typeface="Times New Roman" panose="02020603050405020304" pitchFamily="18" charset="0"/>
                        </a:rPr>
                        <a:t>, Prathmesh </a:t>
                      </a:r>
                      <a:r>
                        <a:rPr lang="en-IN" sz="1100" dirty="0" err="1">
                          <a:latin typeface="Times New Roman" panose="02020603050405020304" pitchFamily="18" charset="0"/>
                          <a:cs typeface="Times New Roman" panose="02020603050405020304" pitchFamily="18" charset="0"/>
                        </a:rPr>
                        <a:t>Paigude</a:t>
                      </a:r>
                      <a:r>
                        <a:rPr lang="en-IN" sz="1100" dirty="0">
                          <a:latin typeface="Times New Roman" panose="02020603050405020304" pitchFamily="18" charset="0"/>
                          <a:cs typeface="Times New Roman" panose="02020603050405020304" pitchFamily="18" charset="0"/>
                        </a:rPr>
                        <a:t>, Sanika </a:t>
                      </a:r>
                      <a:r>
                        <a:rPr lang="en-IN" sz="1100" dirty="0" err="1">
                          <a:latin typeface="Times New Roman" panose="02020603050405020304" pitchFamily="18" charset="0"/>
                          <a:cs typeface="Times New Roman" panose="02020603050405020304" pitchFamily="18" charset="0"/>
                        </a:rPr>
                        <a:t>Pakhare</a:t>
                      </a:r>
                      <a:r>
                        <a:rPr lang="en-IN" sz="1100" dirty="0">
                          <a:latin typeface="Times New Roman" panose="02020603050405020304" pitchFamily="18" charset="0"/>
                          <a:cs typeface="Times New Roman" panose="02020603050405020304" pitchFamily="18" charset="0"/>
                        </a:rPr>
                        <a:t>.</a:t>
                      </a:r>
                      <a:endParaRPr lang="en-US" sz="1100" dirty="0">
                        <a:latin typeface="Times New Roman" panose="02020603050405020304" pitchFamily="18" charset="0"/>
                        <a:ea typeface="Cambria" panose="02040503050406030204" pitchFamily="18" charset="0"/>
                        <a:cs typeface="Times New Roman" panose="02020603050405020304" pitchFamily="18" charset="0"/>
                      </a:endParaRPr>
                    </a:p>
                  </a:txBody>
                  <a:tcPr marL="91453" marR="91453" marT="45731" marB="45731"/>
                </a:tc>
                <a:tc>
                  <a:txBody>
                    <a:bodyPr/>
                    <a:lstStyle/>
                    <a:p>
                      <a:pPr algn="just"/>
                      <a:r>
                        <a:rPr lang="en-IN" sz="1100" dirty="0">
                          <a:latin typeface="Times New Roman" panose="02020603050405020304" pitchFamily="18" charset="0"/>
                          <a:cs typeface="Times New Roman" panose="02020603050405020304" pitchFamily="18" charset="0"/>
                        </a:rPr>
                        <a:t>Published in </a:t>
                      </a:r>
                      <a:r>
                        <a:rPr lang="en-IN" sz="1100" b="0" dirty="0">
                          <a:latin typeface="Times New Roman" panose="02020603050405020304" pitchFamily="18" charset="0"/>
                          <a:cs typeface="Times New Roman" panose="02020603050405020304" pitchFamily="18" charset="0"/>
                        </a:rPr>
                        <a:t>International Journal for Research in Applied Science &amp; Engineering Technology (IJRASET)</a:t>
                      </a:r>
                    </a:p>
                    <a:p>
                      <a:pPr algn="just"/>
                      <a:r>
                        <a:rPr lang="en-US" sz="1100" dirty="0">
                          <a:latin typeface="Times New Roman" panose="02020603050405020304" pitchFamily="18" charset="0"/>
                          <a:ea typeface="Cambria" panose="02040503050406030204" pitchFamily="18" charset="0"/>
                          <a:cs typeface="Times New Roman" panose="02020603050405020304" pitchFamily="18" charset="0"/>
                        </a:rPr>
                        <a:t>Published : </a:t>
                      </a:r>
                      <a:r>
                        <a:rPr lang="en-IN" sz="1100" dirty="0">
                          <a:latin typeface="Times New Roman" panose="02020603050405020304" pitchFamily="18" charset="0"/>
                          <a:cs typeface="Times New Roman" panose="02020603050405020304" pitchFamily="18" charset="0"/>
                        </a:rPr>
                        <a:t>November 2024</a:t>
                      </a:r>
                      <a:endParaRPr lang="en-US" sz="1100" dirty="0">
                        <a:latin typeface="Times New Roman" panose="02020603050405020304" pitchFamily="18" charset="0"/>
                        <a:ea typeface="Cambria" panose="02040503050406030204" pitchFamily="18" charset="0"/>
                        <a:cs typeface="Times New Roman" panose="02020603050405020304" pitchFamily="18" charset="0"/>
                      </a:endParaRPr>
                    </a:p>
                  </a:txBody>
                  <a:tcPr marL="91453" marR="91453" marT="45731" marB="45731"/>
                </a:tc>
                <a:tc>
                  <a:txBody>
                    <a:bodyPr/>
                    <a:lstStyle/>
                    <a:p>
                      <a:pPr algn="just"/>
                      <a:r>
                        <a:rPr lang="en-IN" sz="1100" dirty="0">
                          <a:latin typeface="Times New Roman" panose="02020603050405020304" pitchFamily="18" charset="0"/>
                          <a:cs typeface="Times New Roman" panose="02020603050405020304" pitchFamily="18" charset="0"/>
                        </a:rPr>
                        <a:t>Custom image and video dataset of ambulances at intersections. Curated, annotated, and augmented via </a:t>
                      </a:r>
                      <a:r>
                        <a:rPr lang="en-IN" sz="1100" b="0" dirty="0" err="1">
                          <a:latin typeface="Times New Roman" panose="02020603050405020304" pitchFamily="18" charset="0"/>
                          <a:cs typeface="Times New Roman" panose="02020603050405020304" pitchFamily="18" charset="0"/>
                        </a:rPr>
                        <a:t>Roboflow</a:t>
                      </a:r>
                      <a:r>
                        <a:rPr lang="en-IN" sz="1100" dirty="0">
                          <a:latin typeface="Times New Roman" panose="02020603050405020304" pitchFamily="18" charset="0"/>
                          <a:cs typeface="Times New Roman" panose="02020603050405020304" pitchFamily="18" charset="0"/>
                        </a:rPr>
                        <a:t> with classes “Ambulance” and “Non-Emergency Vehicles”</a:t>
                      </a:r>
                    </a:p>
                    <a:p>
                      <a:pPr algn="just"/>
                      <a:r>
                        <a:rPr lang="en-IN" sz="1100" dirty="0">
                          <a:latin typeface="Times New Roman" panose="02020603050405020304" pitchFamily="18" charset="0"/>
                          <a:cs typeface="Times New Roman" panose="02020603050405020304" pitchFamily="18" charset="0"/>
                        </a:rPr>
                        <a:t>- </a:t>
                      </a:r>
                      <a:r>
                        <a:rPr lang="en-IN" sz="1100" b="0" dirty="0">
                          <a:latin typeface="Times New Roman" panose="02020603050405020304" pitchFamily="18" charset="0"/>
                          <a:cs typeface="Times New Roman" panose="02020603050405020304" pitchFamily="18" charset="0"/>
                        </a:rPr>
                        <a:t>YOLOv8</a:t>
                      </a:r>
                      <a:r>
                        <a:rPr lang="en-IN" sz="1100" dirty="0">
                          <a:latin typeface="Times New Roman" panose="02020603050405020304" pitchFamily="18" charset="0"/>
                          <a:cs typeface="Times New Roman" panose="02020603050405020304" pitchFamily="18" charset="0"/>
                        </a:rPr>
                        <a:t> model trained via </a:t>
                      </a:r>
                      <a:r>
                        <a:rPr lang="en-IN" sz="1100" dirty="0" err="1">
                          <a:latin typeface="Times New Roman" panose="02020603050405020304" pitchFamily="18" charset="0"/>
                          <a:cs typeface="Times New Roman" panose="02020603050405020304" pitchFamily="18" charset="0"/>
                        </a:rPr>
                        <a:t>Ultralytics</a:t>
                      </a:r>
                      <a:r>
                        <a:rPr lang="en-IN" sz="1100" dirty="0">
                          <a:latin typeface="Times New Roman" panose="02020603050405020304" pitchFamily="18" charset="0"/>
                          <a:cs typeface="Times New Roman" panose="02020603050405020304" pitchFamily="18" charset="0"/>
                        </a:rPr>
                        <a:t> in Python for real-time ambulance detection</a:t>
                      </a:r>
                      <a:br>
                        <a:rPr lang="en-IN" sz="1100" dirty="0">
                          <a:latin typeface="Times New Roman" panose="02020603050405020304" pitchFamily="18" charset="0"/>
                          <a:cs typeface="Times New Roman" panose="02020603050405020304" pitchFamily="18" charset="0"/>
                        </a:rPr>
                      </a:br>
                      <a:r>
                        <a:rPr lang="en-IN" sz="1100" dirty="0">
                          <a:latin typeface="Times New Roman" panose="02020603050405020304" pitchFamily="18" charset="0"/>
                          <a:cs typeface="Times New Roman" panose="02020603050405020304" pitchFamily="18" charset="0"/>
                        </a:rPr>
                        <a:t>- </a:t>
                      </a:r>
                      <a:r>
                        <a:rPr lang="en-IN" sz="1100" b="0" dirty="0">
                          <a:latin typeface="Times New Roman" panose="02020603050405020304" pitchFamily="18" charset="0"/>
                          <a:cs typeface="Times New Roman" panose="02020603050405020304" pitchFamily="18" charset="0"/>
                        </a:rPr>
                        <a:t>OpenCV + NumPy </a:t>
                      </a:r>
                      <a:r>
                        <a:rPr lang="en-IN" sz="1100" dirty="0">
                          <a:latin typeface="Times New Roman" panose="02020603050405020304" pitchFamily="18" charset="0"/>
                          <a:cs typeface="Times New Roman" panose="02020603050405020304" pitchFamily="18" charset="0"/>
                        </a:rPr>
                        <a:t>for video feed processing</a:t>
                      </a:r>
                      <a:br>
                        <a:rPr lang="en-IN" sz="1100" dirty="0">
                          <a:latin typeface="Times New Roman" panose="02020603050405020304" pitchFamily="18" charset="0"/>
                          <a:cs typeface="Times New Roman" panose="02020603050405020304" pitchFamily="18" charset="0"/>
                        </a:rPr>
                      </a:br>
                      <a:r>
                        <a:rPr lang="en-IN" sz="1100" dirty="0">
                          <a:latin typeface="Times New Roman" panose="02020603050405020304" pitchFamily="18" charset="0"/>
                          <a:cs typeface="Times New Roman" panose="02020603050405020304" pitchFamily="18" charset="0"/>
                        </a:rPr>
                        <a:t>- </a:t>
                      </a:r>
                      <a:r>
                        <a:rPr lang="en-IN" sz="1100" b="0" dirty="0" err="1">
                          <a:latin typeface="Times New Roman" panose="02020603050405020304" pitchFamily="18" charset="0"/>
                          <a:cs typeface="Times New Roman" panose="02020603050405020304" pitchFamily="18" charset="0"/>
                        </a:rPr>
                        <a:t>PushBullet</a:t>
                      </a:r>
                      <a:r>
                        <a:rPr lang="en-IN" sz="1100" b="0" dirty="0">
                          <a:latin typeface="Times New Roman" panose="02020603050405020304" pitchFamily="18" charset="0"/>
                          <a:cs typeface="Times New Roman" panose="02020603050405020304" pitchFamily="18" charset="0"/>
                        </a:rPr>
                        <a:t>, Plyer, </a:t>
                      </a:r>
                      <a:r>
                        <a:rPr lang="en-IN" sz="1100" b="0" dirty="0" err="1">
                          <a:latin typeface="Times New Roman" panose="02020603050405020304" pitchFamily="18" charset="0"/>
                          <a:cs typeface="Times New Roman" panose="02020603050405020304" pitchFamily="18" charset="0"/>
                        </a:rPr>
                        <a:t>PyAudio</a:t>
                      </a:r>
                      <a:r>
                        <a:rPr lang="en-IN" sz="1100" b="0" dirty="0">
                          <a:latin typeface="Times New Roman" panose="02020603050405020304" pitchFamily="18" charset="0"/>
                          <a:cs typeface="Times New Roman" panose="02020603050405020304" pitchFamily="18" charset="0"/>
                        </a:rPr>
                        <a:t> </a:t>
                      </a:r>
                      <a:r>
                        <a:rPr lang="en-IN" sz="1100" dirty="0">
                          <a:latin typeface="Times New Roman" panose="02020603050405020304" pitchFamily="18" charset="0"/>
                          <a:cs typeface="Times New Roman" panose="02020603050405020304" pitchFamily="18" charset="0"/>
                        </a:rPr>
                        <a:t>for notification &amp; audio alert systems</a:t>
                      </a:r>
                      <a:br>
                        <a:rPr lang="en-IN" sz="1100" dirty="0">
                          <a:latin typeface="Times New Roman" panose="02020603050405020304" pitchFamily="18" charset="0"/>
                          <a:cs typeface="Times New Roman" panose="02020603050405020304" pitchFamily="18" charset="0"/>
                        </a:rPr>
                      </a:br>
                      <a:r>
                        <a:rPr lang="en-IN" sz="1100" dirty="0">
                          <a:latin typeface="Times New Roman" panose="02020603050405020304" pitchFamily="18" charset="0"/>
                          <a:cs typeface="Times New Roman" panose="02020603050405020304" pitchFamily="18" charset="0"/>
                        </a:rPr>
                        <a:t>- </a:t>
                      </a:r>
                      <a:r>
                        <a:rPr lang="en-IN" sz="1100" b="0" dirty="0">
                          <a:latin typeface="Times New Roman" panose="02020603050405020304" pitchFamily="18" charset="0"/>
                          <a:cs typeface="Times New Roman" panose="02020603050405020304" pitchFamily="18" charset="0"/>
                        </a:rPr>
                        <a:t>Modbus Protocol + MCU + GPIO </a:t>
                      </a:r>
                      <a:r>
                        <a:rPr lang="en-IN" sz="1100" dirty="0">
                          <a:latin typeface="Times New Roman" panose="02020603050405020304" pitchFamily="18" charset="0"/>
                          <a:cs typeface="Times New Roman" panose="02020603050405020304" pitchFamily="18" charset="0"/>
                        </a:rPr>
                        <a:t>for traffic signal automation</a:t>
                      </a:r>
                      <a:endParaRPr lang="en-US" sz="1100" dirty="0">
                        <a:latin typeface="Times New Roman" panose="02020603050405020304" pitchFamily="18" charset="0"/>
                        <a:ea typeface="Cambria" panose="02040503050406030204" pitchFamily="18" charset="0"/>
                        <a:cs typeface="Times New Roman" panose="02020603050405020304" pitchFamily="18" charset="0"/>
                      </a:endParaRPr>
                    </a:p>
                  </a:txBody>
                  <a:tcPr marL="91453" marR="91453" marT="45731" marB="45731"/>
                </a:tc>
                <a:tc>
                  <a:txBody>
                    <a:body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100" dirty="0">
                          <a:latin typeface="Times New Roman" panose="02020603050405020304" pitchFamily="18" charset="0"/>
                          <a:cs typeface="Times New Roman" panose="02020603050405020304" pitchFamily="18" charset="0"/>
                        </a:rPr>
                        <a:t>Most traditional traffic systems lack automated emergency vehicle detection</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100" dirty="0">
                          <a:latin typeface="Times New Roman" panose="02020603050405020304" pitchFamily="18" charset="0"/>
                          <a:cs typeface="Times New Roman" panose="02020603050405020304" pitchFamily="18" charset="0"/>
                        </a:rPr>
                        <a:t> Prior approaches were not robust to real-time conditions like occlusion, low light, or congestion</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100" dirty="0">
                          <a:latin typeface="Times New Roman" panose="02020603050405020304" pitchFamily="18" charset="0"/>
                          <a:cs typeface="Times New Roman" panose="02020603050405020304" pitchFamily="18" charset="0"/>
                        </a:rPr>
                        <a:t>Hardware integration poses practical deployment challenges</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100" dirty="0">
                          <a:latin typeface="Times New Roman" panose="02020603050405020304" pitchFamily="18" charset="0"/>
                          <a:cs typeface="Times New Roman" panose="02020603050405020304" pitchFamily="18" charset="0"/>
                        </a:rPr>
                        <a:t>Broader acceptance, legal framework, and privacy compliance.</a:t>
                      </a:r>
                      <a:endParaRPr lang="en-US" sz="1100" dirty="0">
                        <a:latin typeface="Times New Roman" panose="02020603050405020304" pitchFamily="18" charset="0"/>
                        <a:ea typeface="Cambria" panose="02040503050406030204" pitchFamily="18" charset="0"/>
                        <a:cs typeface="Times New Roman" panose="02020603050405020304" pitchFamily="18" charset="0"/>
                      </a:endParaRPr>
                    </a:p>
                  </a:txBody>
                  <a:tcPr marL="91453" marR="91453" marT="45731" marB="45731"/>
                </a:tc>
                <a:extLst>
                  <a:ext uri="{0D108BD9-81ED-4DB2-BD59-A6C34878D82A}">
                    <a16:rowId xmlns:a16="http://schemas.microsoft.com/office/drawing/2014/main" val="2505083476"/>
                  </a:ext>
                </a:extLst>
              </a:tr>
              <a:tr h="1758098">
                <a:tc>
                  <a:txBody>
                    <a:bodyPr/>
                    <a:lstStyle/>
                    <a:p>
                      <a:pPr algn="ctr"/>
                      <a:r>
                        <a:rPr lang="en-US" sz="1100" dirty="0">
                          <a:latin typeface="Times New Roman" panose="02020603050405020304" pitchFamily="18" charset="0"/>
                          <a:ea typeface="Cambria" panose="02040503050406030204" pitchFamily="18" charset="0"/>
                          <a:cs typeface="Times New Roman" panose="02020603050405020304" pitchFamily="18" charset="0"/>
                        </a:rPr>
                        <a:t>8</a:t>
                      </a:r>
                    </a:p>
                  </a:txBody>
                  <a:tcPr marL="91453" marR="91453" marT="45731" marB="45731"/>
                </a:tc>
                <a:tc>
                  <a:txBody>
                    <a:bodyPr/>
                    <a:lstStyle/>
                    <a:p>
                      <a:pPr algn="just"/>
                      <a:r>
                        <a:rPr lang="en-IN" sz="1100" kern="1200" dirty="0">
                          <a:solidFill>
                            <a:schemeClr val="dk1"/>
                          </a:solidFill>
                          <a:effectLst/>
                          <a:latin typeface="Times New Roman" panose="02020603050405020304" pitchFamily="18" charset="0"/>
                          <a:ea typeface="+mn-ea"/>
                          <a:cs typeface="Times New Roman" panose="02020603050405020304" pitchFamily="18" charset="0"/>
                        </a:rPr>
                        <a:t>A Cloud-Based Ambulance Detection System Using YOLOv8 for Minimizing Ambulance Response Time.</a:t>
                      </a:r>
                    </a:p>
                    <a:p>
                      <a:pPr algn="just"/>
                      <a:r>
                        <a:rPr lang="en-IN" sz="1100" kern="1200" dirty="0" err="1">
                          <a:solidFill>
                            <a:schemeClr val="dk1"/>
                          </a:solidFill>
                          <a:effectLst/>
                          <a:latin typeface="Times New Roman" panose="02020603050405020304" pitchFamily="18" charset="0"/>
                          <a:ea typeface="+mn-ea"/>
                          <a:cs typeface="Times New Roman" panose="02020603050405020304" pitchFamily="18" charset="0"/>
                        </a:rPr>
                        <a:t>Authors:Ayman</a:t>
                      </a:r>
                      <a:r>
                        <a:rPr lang="en-IN" sz="1100" kern="1200" dirty="0">
                          <a:solidFill>
                            <a:schemeClr val="dk1"/>
                          </a:solidFill>
                          <a:effectLst/>
                          <a:latin typeface="Times New Roman" panose="02020603050405020304" pitchFamily="18" charset="0"/>
                          <a:ea typeface="+mn-ea"/>
                          <a:cs typeface="Times New Roman" panose="02020603050405020304" pitchFamily="18" charset="0"/>
                        </a:rPr>
                        <a:t> </a:t>
                      </a:r>
                      <a:r>
                        <a:rPr lang="en-IN" sz="1100" kern="1200" dirty="0" err="1">
                          <a:solidFill>
                            <a:schemeClr val="dk1"/>
                          </a:solidFill>
                          <a:effectLst/>
                          <a:latin typeface="Times New Roman" panose="02020603050405020304" pitchFamily="18" charset="0"/>
                          <a:ea typeface="+mn-ea"/>
                          <a:cs typeface="Times New Roman" panose="02020603050405020304" pitchFamily="18" charset="0"/>
                        </a:rPr>
                        <a:t>Noor,Ziad</a:t>
                      </a:r>
                      <a:r>
                        <a:rPr lang="en-IN" sz="1100" kern="1200" dirty="0">
                          <a:solidFill>
                            <a:schemeClr val="dk1"/>
                          </a:solidFill>
                          <a:effectLst/>
                          <a:latin typeface="Times New Roman" panose="02020603050405020304" pitchFamily="18" charset="0"/>
                          <a:ea typeface="+mn-ea"/>
                          <a:cs typeface="Times New Roman" panose="02020603050405020304" pitchFamily="18" charset="0"/>
                        </a:rPr>
                        <a:t> </a:t>
                      </a:r>
                      <a:r>
                        <a:rPr lang="en-IN" sz="1100" kern="1200" dirty="0" err="1">
                          <a:solidFill>
                            <a:schemeClr val="dk1"/>
                          </a:solidFill>
                          <a:effectLst/>
                          <a:latin typeface="Times New Roman" panose="02020603050405020304" pitchFamily="18" charset="0"/>
                          <a:ea typeface="+mn-ea"/>
                          <a:cs typeface="Times New Roman" panose="02020603050405020304" pitchFamily="18" charset="0"/>
                        </a:rPr>
                        <a:t>AlgrafiandMajedAlwateer</a:t>
                      </a:r>
                      <a:r>
                        <a:rPr lang="en-IN" sz="1100" kern="1200" dirty="0">
                          <a:solidFill>
                            <a:schemeClr val="dk1"/>
                          </a:solidFill>
                          <a:effectLst/>
                          <a:latin typeface="Times New Roman" panose="02020603050405020304" pitchFamily="18" charset="0"/>
                          <a:ea typeface="+mn-ea"/>
                          <a:cs typeface="Times New Roman" panose="02020603050405020304" pitchFamily="18" charset="0"/>
                        </a:rPr>
                        <a:t>,</a:t>
                      </a:r>
                    </a:p>
                    <a:p>
                      <a:pPr algn="just"/>
                      <a:r>
                        <a:rPr lang="en-IN" sz="1100" kern="1200" dirty="0">
                          <a:solidFill>
                            <a:schemeClr val="dk1"/>
                          </a:solidFill>
                          <a:effectLst/>
                          <a:latin typeface="Times New Roman" panose="02020603050405020304" pitchFamily="18" charset="0"/>
                          <a:ea typeface="+mn-ea"/>
                          <a:cs typeface="Times New Roman" panose="02020603050405020304" pitchFamily="18" charset="0"/>
                        </a:rPr>
                        <a:t>Basil Alharbi, Talal H. Noor, Abdullah </a:t>
                      </a:r>
                      <a:r>
                        <a:rPr lang="en-IN" sz="1100" kern="1200" dirty="0" err="1">
                          <a:solidFill>
                            <a:schemeClr val="dk1"/>
                          </a:solidFill>
                          <a:effectLst/>
                          <a:latin typeface="Times New Roman" panose="02020603050405020304" pitchFamily="18" charset="0"/>
                          <a:ea typeface="+mn-ea"/>
                          <a:cs typeface="Times New Roman" panose="02020603050405020304" pitchFamily="18" charset="0"/>
                        </a:rPr>
                        <a:t>Alsaeedi</a:t>
                      </a:r>
                      <a:r>
                        <a:rPr lang="en-IN" sz="1100" kern="1200" dirty="0">
                          <a:solidFill>
                            <a:schemeClr val="dk1"/>
                          </a:solidFill>
                          <a:effectLst/>
                          <a:latin typeface="Times New Roman" panose="02020603050405020304" pitchFamily="18" charset="0"/>
                          <a:ea typeface="+mn-ea"/>
                          <a:cs typeface="Times New Roman" panose="02020603050405020304" pitchFamily="18" charset="0"/>
                        </a:rPr>
                        <a:t>, </a:t>
                      </a:r>
                      <a:r>
                        <a:rPr lang="en-IN" sz="1100" kern="1200" dirty="0" err="1">
                          <a:solidFill>
                            <a:schemeClr val="dk1"/>
                          </a:solidFill>
                          <a:effectLst/>
                          <a:latin typeface="Times New Roman" panose="02020603050405020304" pitchFamily="18" charset="0"/>
                          <a:ea typeface="+mn-ea"/>
                          <a:cs typeface="Times New Roman" panose="02020603050405020304" pitchFamily="18" charset="0"/>
                        </a:rPr>
                        <a:t>Reyadh</a:t>
                      </a:r>
                      <a:endParaRPr lang="en-IN" sz="1100" kern="1200" dirty="0">
                        <a:solidFill>
                          <a:schemeClr val="dk1"/>
                        </a:solidFill>
                        <a:effectLst/>
                        <a:latin typeface="Times New Roman" panose="02020603050405020304" pitchFamily="18" charset="0"/>
                        <a:ea typeface="+mn-ea"/>
                        <a:cs typeface="Times New Roman" panose="02020603050405020304" pitchFamily="18" charset="0"/>
                      </a:endParaRPr>
                    </a:p>
                    <a:p>
                      <a:pPr algn="just"/>
                      <a:endParaRPr lang="en-US" sz="1100" dirty="0">
                        <a:latin typeface="Times New Roman" panose="02020603050405020304" pitchFamily="18" charset="0"/>
                        <a:ea typeface="Cambria" panose="02040503050406030204" pitchFamily="18" charset="0"/>
                        <a:cs typeface="Times New Roman" panose="02020603050405020304" pitchFamily="18" charset="0"/>
                      </a:endParaRPr>
                    </a:p>
                  </a:txBody>
                  <a:tcPr marL="91453" marR="91453" marT="45731" marB="45731"/>
                </a:tc>
                <a:tc>
                  <a:txBody>
                    <a:bodyPr/>
                    <a:lstStyle/>
                    <a:p>
                      <a:pPr algn="just"/>
                      <a:r>
                        <a:rPr lang="en-IN" sz="1100" dirty="0">
                          <a:latin typeface="Times New Roman" panose="02020603050405020304" pitchFamily="18" charset="0"/>
                          <a:cs typeface="Times New Roman" panose="02020603050405020304" pitchFamily="18" charset="0"/>
                        </a:rPr>
                        <a:t>Published in </a:t>
                      </a:r>
                      <a:r>
                        <a:rPr lang="en-IN" sz="1100" i="1" dirty="0">
                          <a:latin typeface="Times New Roman" panose="02020603050405020304" pitchFamily="18" charset="0"/>
                          <a:cs typeface="Times New Roman" panose="02020603050405020304" pitchFamily="18" charset="0"/>
                        </a:rPr>
                        <a:t>Applied Sciences</a:t>
                      </a:r>
                      <a:r>
                        <a:rPr lang="en-IN" sz="1100" dirty="0">
                          <a:latin typeface="Times New Roman" panose="02020603050405020304" pitchFamily="18" charset="0"/>
                          <a:cs typeface="Times New Roman" panose="02020603050405020304" pitchFamily="18" charset="0"/>
                        </a:rPr>
                        <a:t>, MDPI (Scopus indexed)</a:t>
                      </a:r>
                    </a:p>
                    <a:p>
                      <a:pPr marL="0" marR="0" lvl="0" indent="0" algn="just" defTabSz="914400" rtl="0" eaLnBrk="1" fontAlgn="auto" latinLnBrk="0" hangingPunct="1">
                        <a:lnSpc>
                          <a:spcPct val="100000"/>
                        </a:lnSpc>
                        <a:spcBef>
                          <a:spcPts val="0"/>
                        </a:spcBef>
                        <a:spcAft>
                          <a:spcPts val="0"/>
                        </a:spcAft>
                        <a:buClrTx/>
                        <a:buSzTx/>
                        <a:buFontTx/>
                        <a:buNone/>
                        <a:tabLst/>
                        <a:defRPr/>
                      </a:pPr>
                      <a:r>
                        <a:rPr lang="en-IN" sz="1100" kern="1200" dirty="0">
                          <a:solidFill>
                            <a:schemeClr val="dk1"/>
                          </a:solidFill>
                          <a:effectLst/>
                          <a:latin typeface="Times New Roman" panose="02020603050405020304" pitchFamily="18" charset="0"/>
                          <a:ea typeface="+mn-ea"/>
                          <a:cs typeface="Times New Roman" panose="02020603050405020304" pitchFamily="18" charset="0"/>
                        </a:rPr>
                        <a:t>Published : 19 March 2024</a:t>
                      </a:r>
                    </a:p>
                    <a:p>
                      <a:pPr algn="just"/>
                      <a:endParaRPr lang="en-US" sz="1100" dirty="0">
                        <a:latin typeface="Times New Roman" panose="02020603050405020304" pitchFamily="18" charset="0"/>
                        <a:ea typeface="Cambria" panose="02040503050406030204" pitchFamily="18" charset="0"/>
                        <a:cs typeface="Times New Roman" panose="02020603050405020304" pitchFamily="18" charset="0"/>
                      </a:endParaRPr>
                    </a:p>
                  </a:txBody>
                  <a:tcPr marL="91453" marR="91453" marT="45731" marB="45731"/>
                </a:tc>
                <a:tc>
                  <a:txBody>
                    <a:bodyPr/>
                    <a:lstStyle/>
                    <a:p>
                      <a:pPr algn="just"/>
                      <a:r>
                        <a:rPr lang="en-IN" sz="1100" dirty="0">
                          <a:latin typeface="Times New Roman" panose="02020603050405020304" pitchFamily="18" charset="0"/>
                          <a:cs typeface="Times New Roman" panose="02020603050405020304" pitchFamily="18" charset="0"/>
                        </a:rPr>
                        <a:t>Custom dataset of 3000 images from 10 countries; YOLOv8 detection models</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100" dirty="0">
                          <a:latin typeface="Times New Roman" panose="02020603050405020304" pitchFamily="18" charset="0"/>
                          <a:cs typeface="Times New Roman" panose="02020603050405020304" pitchFamily="18" charset="0"/>
                        </a:rPr>
                        <a:t>Lacks universal ambulance detection due to country-specific designs; limitation in real-world deployment generalization</a:t>
                      </a:r>
                      <a:endParaRPr lang="en-US" sz="1100" dirty="0">
                        <a:latin typeface="Times New Roman" panose="02020603050405020304" pitchFamily="18" charset="0"/>
                        <a:ea typeface="Cambria" panose="02040503050406030204" pitchFamily="18" charset="0"/>
                        <a:cs typeface="Times New Roman" panose="02020603050405020304" pitchFamily="18" charset="0"/>
                      </a:endParaRPr>
                    </a:p>
                  </a:txBody>
                  <a:tcPr marL="91453" marR="91453" marT="45731" marB="45731"/>
                </a:tc>
                <a:extLst>
                  <a:ext uri="{0D108BD9-81ED-4DB2-BD59-A6C34878D82A}">
                    <a16:rowId xmlns:a16="http://schemas.microsoft.com/office/drawing/2014/main" val="666209038"/>
                  </a:ext>
                </a:extLst>
              </a:tr>
            </a:tbl>
          </a:graphicData>
        </a:graphic>
      </p:graphicFrame>
    </p:spTree>
    <p:extLst>
      <p:ext uri="{BB962C8B-B14F-4D97-AF65-F5344CB8AC3E}">
        <p14:creationId xmlns:p14="http://schemas.microsoft.com/office/powerpoint/2010/main" val="2138445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D8652-A545-E7FD-B698-AA2BAF1E0DEE}"/>
            </a:ext>
          </a:extLst>
        </p:cNvPr>
        <p:cNvGrpSpPr/>
        <p:nvPr/>
      </p:nvGrpSpPr>
      <p:grpSpPr>
        <a:xfrm>
          <a:off x="0" y="0"/>
          <a:ext cx="0" cy="0"/>
          <a:chOff x="0" y="0"/>
          <a:chExt cx="0" cy="0"/>
        </a:xfrm>
      </p:grpSpPr>
      <p:sp>
        <p:nvSpPr>
          <p:cNvPr id="12290" name="Title 1">
            <a:extLst>
              <a:ext uri="{FF2B5EF4-FFF2-40B4-BE49-F238E27FC236}">
                <a16:creationId xmlns:a16="http://schemas.microsoft.com/office/drawing/2014/main" id="{022A7063-FD18-3C0C-7665-3EE313E5F759}"/>
              </a:ext>
            </a:extLst>
          </p:cNvPr>
          <p:cNvSpPr>
            <a:spLocks noGrp="1"/>
          </p:cNvSpPr>
          <p:nvPr>
            <p:ph type="title"/>
          </p:nvPr>
        </p:nvSpPr>
        <p:spPr/>
        <p:txBody>
          <a:bodyPr/>
          <a:lstStyle/>
          <a:p>
            <a:pPr eaLnBrk="1" hangingPunct="1"/>
            <a:r>
              <a:rPr lang="en-IN" altLang="en-US" sz="4000" b="1">
                <a:latin typeface="Times New Roman" panose="02020603050405020304" pitchFamily="18" charset="0"/>
                <a:cs typeface="Times New Roman" panose="02020603050405020304" pitchFamily="18" charset="0"/>
              </a:rPr>
              <a:t>Literature Survey</a:t>
            </a:r>
          </a:p>
        </p:txBody>
      </p:sp>
      <p:sp>
        <p:nvSpPr>
          <p:cNvPr id="11267" name="Content Placeholder 2">
            <a:extLst>
              <a:ext uri="{FF2B5EF4-FFF2-40B4-BE49-F238E27FC236}">
                <a16:creationId xmlns:a16="http://schemas.microsoft.com/office/drawing/2014/main" id="{5CC23B21-083C-5087-485E-B231973D3E02}"/>
              </a:ext>
            </a:extLst>
          </p:cNvPr>
          <p:cNvSpPr>
            <a:spLocks noGrp="1"/>
          </p:cNvSpPr>
          <p:nvPr>
            <p:ph idx="1"/>
          </p:nvPr>
        </p:nvSpPr>
        <p:spPr>
          <a:xfrm>
            <a:off x="838200" y="1456915"/>
            <a:ext cx="10515600" cy="1551756"/>
          </a:xfrm>
        </p:spPr>
        <p:txBody>
          <a:bodyPr/>
          <a:lstStyle/>
          <a:p>
            <a:pPr marL="0" indent="0" eaLnBrk="1" hangingPunct="1">
              <a:buNone/>
              <a:defRPr/>
            </a:pPr>
            <a:endParaRPr lang="en-IN" altLang="en-US" dirty="0">
              <a:latin typeface="Times New Roman" panose="02020603050405020304" pitchFamily="18" charset="0"/>
              <a:cs typeface="Times New Roman" panose="02020603050405020304" pitchFamily="18" charset="0"/>
            </a:endParaRPr>
          </a:p>
        </p:txBody>
      </p:sp>
      <p:sp>
        <p:nvSpPr>
          <p:cNvPr id="12292" name="Slide Number Placeholder 7">
            <a:extLst>
              <a:ext uri="{FF2B5EF4-FFF2-40B4-BE49-F238E27FC236}">
                <a16:creationId xmlns:a16="http://schemas.microsoft.com/office/drawing/2014/main" id="{DE2F7343-9004-F0C3-F30A-77C329988075}"/>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EE1AE39C-A8DF-3940-9207-1DF0B8EDDAF4}" type="slidenum">
              <a:rPr lang="en-IN" altLang="en-US" sz="1200">
                <a:solidFill>
                  <a:srgbClr val="898989"/>
                </a:solidFill>
                <a:latin typeface="Times New Roman" panose="02020603050405020304" pitchFamily="18" charset="0"/>
                <a:cs typeface="Times New Roman" panose="02020603050405020304" pitchFamily="18" charset="0"/>
              </a:rPr>
              <a:pPr>
                <a:lnSpc>
                  <a:spcPct val="100000"/>
                </a:lnSpc>
                <a:spcBef>
                  <a:spcPct val="0"/>
                </a:spcBef>
                <a:buFontTx/>
                <a:buNone/>
              </a:pPr>
              <a:t>11</a:t>
            </a:fld>
            <a:endParaRPr lang="en-IN" altLang="en-US" sz="1200">
              <a:solidFill>
                <a:srgbClr val="898989"/>
              </a:solidFill>
              <a:latin typeface="Times New Roman" panose="02020603050405020304" pitchFamily="18" charset="0"/>
              <a:cs typeface="Times New Roman" panose="02020603050405020304" pitchFamily="18" charset="0"/>
            </a:endParaRPr>
          </a:p>
        </p:txBody>
      </p:sp>
      <p:sp>
        <p:nvSpPr>
          <p:cNvPr id="9" name="Footer Placeholder 8">
            <a:extLst>
              <a:ext uri="{FF2B5EF4-FFF2-40B4-BE49-F238E27FC236}">
                <a16:creationId xmlns:a16="http://schemas.microsoft.com/office/drawing/2014/main" id="{D523952D-6AB3-64A7-A7C3-FB489C06D59B}"/>
              </a:ext>
            </a:extLst>
          </p:cNvPr>
          <p:cNvSpPr>
            <a:spLocks noGrp="1"/>
          </p:cNvSpPr>
          <p:nvPr>
            <p:ph type="ftr" sz="quarter" idx="10"/>
          </p:nvPr>
        </p:nvSpPr>
        <p:spPr>
          <a:xfrm>
            <a:off x="0" y="6308725"/>
            <a:ext cx="7904163" cy="412750"/>
          </a:xfrm>
        </p:spPr>
        <p:txBody>
          <a:bodyPr/>
          <a:lstStyle/>
          <a:p>
            <a:pPr>
              <a:defRPr/>
            </a:pPr>
            <a:r>
              <a:rPr lang="en-US" dirty="0">
                <a:latin typeface="Times New Roman" panose="02020603050405020304" pitchFamily="18" charset="0"/>
                <a:cs typeface="Times New Roman" panose="02020603050405020304" pitchFamily="18" charset="0"/>
              </a:rPr>
              <a:t>Dept of CSE,GAT                                                                                                    2024-25                                                                                                                                                                        </a:t>
            </a:r>
            <a:endParaRPr lang="en-IN"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65F5E4CE-F259-573A-FD41-0DD4C39671DF}"/>
              </a:ext>
            </a:extLst>
          </p:cNvPr>
          <p:cNvGraphicFramePr>
            <a:graphicFrameLocks noGrp="1"/>
          </p:cNvGraphicFramePr>
          <p:nvPr>
            <p:extLst>
              <p:ext uri="{D42A27DB-BD31-4B8C-83A1-F6EECF244321}">
                <p14:modId xmlns:p14="http://schemas.microsoft.com/office/powerpoint/2010/main" val="1825384445"/>
              </p:ext>
            </p:extLst>
          </p:nvPr>
        </p:nvGraphicFramePr>
        <p:xfrm>
          <a:off x="658813" y="1456921"/>
          <a:ext cx="10694987" cy="4864645"/>
        </p:xfrm>
        <a:graphic>
          <a:graphicData uri="http://schemas.openxmlformats.org/drawingml/2006/table">
            <a:tbl>
              <a:tblPr firstRow="1" bandRow="1">
                <a:tableStyleId>{5C22544A-7EE6-4342-B048-85BDC9FD1C3A}</a:tableStyleId>
              </a:tblPr>
              <a:tblGrid>
                <a:gridCol w="598260">
                  <a:extLst>
                    <a:ext uri="{9D8B030D-6E8A-4147-A177-3AD203B41FA5}">
                      <a16:colId xmlns:a16="http://schemas.microsoft.com/office/drawing/2014/main" val="3574709401"/>
                    </a:ext>
                  </a:extLst>
                </a:gridCol>
                <a:gridCol w="1873708">
                  <a:extLst>
                    <a:ext uri="{9D8B030D-6E8A-4147-A177-3AD203B41FA5}">
                      <a16:colId xmlns:a16="http://schemas.microsoft.com/office/drawing/2014/main" val="848083800"/>
                    </a:ext>
                  </a:extLst>
                </a:gridCol>
                <a:gridCol w="2420933">
                  <a:extLst>
                    <a:ext uri="{9D8B030D-6E8A-4147-A177-3AD203B41FA5}">
                      <a16:colId xmlns:a16="http://schemas.microsoft.com/office/drawing/2014/main" val="1708821697"/>
                    </a:ext>
                  </a:extLst>
                </a:gridCol>
                <a:gridCol w="3515578">
                  <a:extLst>
                    <a:ext uri="{9D8B030D-6E8A-4147-A177-3AD203B41FA5}">
                      <a16:colId xmlns:a16="http://schemas.microsoft.com/office/drawing/2014/main" val="2669523253"/>
                    </a:ext>
                  </a:extLst>
                </a:gridCol>
                <a:gridCol w="2286508">
                  <a:extLst>
                    <a:ext uri="{9D8B030D-6E8A-4147-A177-3AD203B41FA5}">
                      <a16:colId xmlns:a16="http://schemas.microsoft.com/office/drawing/2014/main" val="2358187058"/>
                    </a:ext>
                  </a:extLst>
                </a:gridCol>
              </a:tblGrid>
              <a:tr h="993641">
                <a:tc>
                  <a:txBody>
                    <a:bodyPr/>
                    <a:lstStyle/>
                    <a:p>
                      <a:pPr algn="ctr"/>
                      <a:r>
                        <a:rPr lang="en-US" sz="1800" dirty="0">
                          <a:latin typeface="Cambria" panose="02040503050406030204" pitchFamily="18" charset="0"/>
                          <a:ea typeface="Cambria" panose="02040503050406030204" pitchFamily="18" charset="0"/>
                        </a:rPr>
                        <a:t>Sl. #</a:t>
                      </a:r>
                    </a:p>
                  </a:txBody>
                  <a:tcPr marL="91453" marR="91453" marT="45731" marB="4573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Title and Author</a:t>
                      </a:r>
                    </a:p>
                  </a:txBody>
                  <a:tcPr marL="91453" marR="91453" marT="45731" marB="45731"/>
                </a:tc>
                <a:tc>
                  <a:txBody>
                    <a:bodyPr/>
                    <a:lstStyle/>
                    <a:p>
                      <a:pPr algn="ctr"/>
                      <a:r>
                        <a:rPr lang="en-US" sz="1800" dirty="0">
                          <a:latin typeface="Cambria" panose="02040503050406030204" pitchFamily="18" charset="0"/>
                          <a:ea typeface="Cambria" panose="02040503050406030204" pitchFamily="18" charset="0"/>
                        </a:rPr>
                        <a:t>Scopus/SCI</a:t>
                      </a:r>
                    </a:p>
                    <a:p>
                      <a:pPr algn="ctr"/>
                      <a:r>
                        <a:rPr lang="en-US" sz="1800" dirty="0">
                          <a:latin typeface="Cambria" panose="02040503050406030204" pitchFamily="18" charset="0"/>
                          <a:ea typeface="Cambria" panose="02040503050406030204" pitchFamily="18" charset="0"/>
                        </a:rPr>
                        <a:t>Date of Publication</a:t>
                      </a:r>
                    </a:p>
                  </a:txBody>
                  <a:tcPr marL="91453" marR="91453" marT="45731" marB="4573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Dataset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 and Methodology Used</a:t>
                      </a:r>
                    </a:p>
                  </a:txBody>
                  <a:tcPr marL="91453" marR="91453" marT="45731" marB="4573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Research Gap</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Identified/Limitation</a:t>
                      </a:r>
                    </a:p>
                  </a:txBody>
                  <a:tcPr marL="91453" marR="91453" marT="45731" marB="45731"/>
                </a:tc>
                <a:extLst>
                  <a:ext uri="{0D108BD9-81ED-4DB2-BD59-A6C34878D82A}">
                    <a16:rowId xmlns:a16="http://schemas.microsoft.com/office/drawing/2014/main" val="3112410775"/>
                  </a:ext>
                </a:extLst>
              </a:tr>
              <a:tr h="1595301">
                <a:tc>
                  <a:txBody>
                    <a:bodyPr/>
                    <a:lstStyle/>
                    <a:p>
                      <a:pPr algn="ctr"/>
                      <a:r>
                        <a:rPr lang="en-US" sz="1100" dirty="0">
                          <a:latin typeface="Times New Roman" panose="02020603050405020304" pitchFamily="18" charset="0"/>
                          <a:ea typeface="Cambria" panose="02040503050406030204" pitchFamily="18" charset="0"/>
                          <a:cs typeface="Times New Roman" panose="02020603050405020304" pitchFamily="18" charset="0"/>
                        </a:rPr>
                        <a:t>9</a:t>
                      </a:r>
                    </a:p>
                  </a:txBody>
                  <a:tcPr marL="91453" marR="91453" marT="45731" marB="45731"/>
                </a:tc>
                <a:tc>
                  <a:txBody>
                    <a:bodyPr/>
                    <a:lstStyle/>
                    <a:p>
                      <a:pPr algn="just"/>
                      <a:r>
                        <a:rPr lang="en-IN" sz="1100" kern="1200" dirty="0">
                          <a:solidFill>
                            <a:schemeClr val="dk1"/>
                          </a:solidFill>
                          <a:effectLst/>
                          <a:latin typeface="Times New Roman" panose="02020603050405020304" pitchFamily="18" charset="0"/>
                          <a:ea typeface="+mn-ea"/>
                          <a:cs typeface="Times New Roman" panose="02020603050405020304" pitchFamily="18" charset="0"/>
                        </a:rPr>
                        <a:t>RTAIAED: A Real-Time Ambulance in an Emergency Detector</a:t>
                      </a:r>
                    </a:p>
                    <a:p>
                      <a:pPr algn="just"/>
                      <a:r>
                        <a:rPr lang="en-IN" sz="1100" kern="1200" dirty="0">
                          <a:solidFill>
                            <a:schemeClr val="dk1"/>
                          </a:solidFill>
                          <a:effectLst/>
                          <a:latin typeface="Times New Roman" panose="02020603050405020304" pitchFamily="18" charset="0"/>
                          <a:ea typeface="+mn-ea"/>
                          <a:cs typeface="Times New Roman" panose="02020603050405020304" pitchFamily="18" charset="0"/>
                        </a:rPr>
                        <a:t>with a Pyramidal Part-Based Model Composed of MFCCs</a:t>
                      </a:r>
                    </a:p>
                    <a:p>
                      <a:pPr algn="just"/>
                      <a:r>
                        <a:rPr lang="en-IN" sz="1100" kern="1200" dirty="0">
                          <a:solidFill>
                            <a:schemeClr val="dk1"/>
                          </a:solidFill>
                          <a:effectLst/>
                          <a:latin typeface="Times New Roman" panose="02020603050405020304" pitchFamily="18" charset="0"/>
                          <a:ea typeface="+mn-ea"/>
                          <a:cs typeface="Times New Roman" panose="02020603050405020304" pitchFamily="18" charset="0"/>
                        </a:rPr>
                        <a:t>and YOLOv8</a:t>
                      </a:r>
                    </a:p>
                    <a:p>
                      <a:pPr algn="just"/>
                      <a:r>
                        <a:rPr lang="en-IN" sz="1100" kern="1200" dirty="0" err="1">
                          <a:solidFill>
                            <a:schemeClr val="dk1"/>
                          </a:solidFill>
                          <a:effectLst/>
                          <a:latin typeface="Times New Roman" panose="02020603050405020304" pitchFamily="18" charset="0"/>
                          <a:ea typeface="+mn-ea"/>
                          <a:cs typeface="Times New Roman" panose="02020603050405020304" pitchFamily="18" charset="0"/>
                        </a:rPr>
                        <a:t>Author:Alessandro</a:t>
                      </a:r>
                      <a:r>
                        <a:rPr lang="en-IN" sz="1100" kern="1200" dirty="0">
                          <a:solidFill>
                            <a:schemeClr val="dk1"/>
                          </a:solidFill>
                          <a:effectLst/>
                          <a:latin typeface="Times New Roman" panose="02020603050405020304" pitchFamily="18" charset="0"/>
                          <a:ea typeface="+mn-ea"/>
                          <a:cs typeface="Times New Roman" panose="02020603050405020304" pitchFamily="18" charset="0"/>
                        </a:rPr>
                        <a:t> </a:t>
                      </a:r>
                      <a:r>
                        <a:rPr lang="en-IN" sz="1100" kern="1200" dirty="0" err="1">
                          <a:solidFill>
                            <a:schemeClr val="dk1"/>
                          </a:solidFill>
                          <a:effectLst/>
                          <a:latin typeface="Times New Roman" panose="02020603050405020304" pitchFamily="18" charset="0"/>
                          <a:ea typeface="+mn-ea"/>
                          <a:cs typeface="Times New Roman" panose="02020603050405020304" pitchFamily="18" charset="0"/>
                        </a:rPr>
                        <a:t>Mecocci</a:t>
                      </a:r>
                      <a:r>
                        <a:rPr lang="en-IN" sz="1100" kern="1200" dirty="0">
                          <a:solidFill>
                            <a:schemeClr val="dk1"/>
                          </a:solidFill>
                          <a:effectLst/>
                          <a:latin typeface="Times New Roman" panose="02020603050405020304" pitchFamily="18" charset="0"/>
                          <a:ea typeface="+mn-ea"/>
                          <a:cs typeface="Times New Roman" panose="02020603050405020304" pitchFamily="18" charset="0"/>
                        </a:rPr>
                        <a:t> * and Claudio Grassi</a:t>
                      </a:r>
                    </a:p>
                    <a:p>
                      <a:pPr algn="just"/>
                      <a:endParaRPr lang="en-US" sz="1100" dirty="0">
                        <a:latin typeface="Times New Roman" panose="02020603050405020304" pitchFamily="18" charset="0"/>
                        <a:ea typeface="Cambria" panose="02040503050406030204" pitchFamily="18" charset="0"/>
                        <a:cs typeface="Times New Roman" panose="02020603050405020304" pitchFamily="18" charset="0"/>
                      </a:endParaRPr>
                    </a:p>
                  </a:txBody>
                  <a:tcPr marL="91453" marR="91453" marT="45731" marB="45731"/>
                </a:tc>
                <a:tc>
                  <a:txBody>
                    <a:bodyPr/>
                    <a:lstStyle/>
                    <a:p>
                      <a:pPr algn="just"/>
                      <a:r>
                        <a:rPr lang="en-IN" sz="1100" dirty="0">
                          <a:latin typeface="Times New Roman" panose="02020603050405020304" pitchFamily="18" charset="0"/>
                          <a:cs typeface="Times New Roman" panose="02020603050405020304" pitchFamily="18" charset="0"/>
                        </a:rPr>
                        <a:t>Published in </a:t>
                      </a:r>
                      <a:r>
                        <a:rPr lang="en-IN" sz="1100" b="0" dirty="0">
                          <a:latin typeface="Times New Roman" panose="02020603050405020304" pitchFamily="18" charset="0"/>
                          <a:cs typeface="Times New Roman" panose="02020603050405020304" pitchFamily="18" charset="0"/>
                        </a:rPr>
                        <a:t>Sensors (MDPI) </a:t>
                      </a:r>
                      <a:r>
                        <a:rPr lang="en-IN" sz="1100" dirty="0">
                          <a:latin typeface="Times New Roman" panose="02020603050405020304" pitchFamily="18" charset="0"/>
                          <a:cs typeface="Times New Roman" panose="02020603050405020304" pitchFamily="18" charset="0"/>
                        </a:rPr>
                        <a:t>– an </a:t>
                      </a:r>
                      <a:r>
                        <a:rPr lang="en-IN" sz="1100" b="0" dirty="0">
                          <a:latin typeface="Times New Roman" panose="02020603050405020304" pitchFamily="18" charset="0"/>
                          <a:cs typeface="Times New Roman" panose="02020603050405020304" pitchFamily="18" charset="0"/>
                        </a:rPr>
                        <a:t>SCI-indexed journal </a:t>
                      </a:r>
                      <a:r>
                        <a:rPr lang="en-IN" sz="1100" dirty="0">
                          <a:latin typeface="Times New Roman" panose="02020603050405020304" pitchFamily="18" charset="0"/>
                          <a:cs typeface="Times New Roman" panose="02020603050405020304" pitchFamily="18" charset="0"/>
                        </a:rPr>
                        <a:t>with reputable indexing in Scopus and Web of Science.</a:t>
                      </a:r>
                    </a:p>
                    <a:p>
                      <a:pPr algn="just"/>
                      <a:r>
                        <a:rPr lang="en-US" sz="1100" dirty="0">
                          <a:latin typeface="Times New Roman" panose="02020603050405020304" pitchFamily="18" charset="0"/>
                          <a:ea typeface="Cambria" panose="02040503050406030204" pitchFamily="18" charset="0"/>
                          <a:cs typeface="Times New Roman" panose="02020603050405020304" pitchFamily="18" charset="0"/>
                        </a:rPr>
                        <a:t>Published : </a:t>
                      </a:r>
                      <a:r>
                        <a:rPr lang="en-IN" sz="1100" dirty="0">
                          <a:latin typeface="Times New Roman" panose="02020603050405020304" pitchFamily="18" charset="0"/>
                          <a:cs typeface="Times New Roman" panose="02020603050405020304" pitchFamily="18" charset="0"/>
                        </a:rPr>
                        <a:t>April 5, 2024</a:t>
                      </a:r>
                      <a:endParaRPr lang="en-US" sz="1100" dirty="0">
                        <a:latin typeface="Times New Roman" panose="02020603050405020304" pitchFamily="18" charset="0"/>
                        <a:ea typeface="Cambria" panose="02040503050406030204" pitchFamily="18" charset="0"/>
                        <a:cs typeface="Times New Roman" panose="02020603050405020304" pitchFamily="18" charset="0"/>
                      </a:endParaRPr>
                    </a:p>
                  </a:txBody>
                  <a:tcPr marL="91453" marR="91453" marT="45731" marB="45731"/>
                </a:tc>
                <a:tc>
                  <a:txBody>
                    <a:bodyPr/>
                    <a:lstStyle/>
                    <a:p>
                      <a:pPr marL="171450" indent="-171450" algn="just">
                        <a:buFont typeface="Arial" panose="020B0604020202020204" pitchFamily="34" charset="0"/>
                        <a:buChar char="•"/>
                      </a:pPr>
                      <a:r>
                        <a:rPr lang="en-IN" sz="1100" dirty="0">
                          <a:latin typeface="Times New Roman" panose="02020603050405020304" pitchFamily="18" charset="0"/>
                          <a:cs typeface="Times New Roman" panose="02020603050405020304" pitchFamily="18" charset="0"/>
                        </a:rPr>
                        <a:t>Custom-built image and audio datasets:</a:t>
                      </a:r>
                    </a:p>
                    <a:p>
                      <a:pPr marL="171450" indent="-171450" algn="just">
                        <a:buFont typeface="Arial" panose="020B0604020202020204" pitchFamily="34" charset="0"/>
                        <a:buChar char="•"/>
                      </a:pPr>
                      <a:r>
                        <a:rPr lang="en-IN" sz="1100" b="0" dirty="0">
                          <a:latin typeface="Times New Roman" panose="02020603050405020304" pitchFamily="18" charset="0"/>
                          <a:cs typeface="Times New Roman" panose="02020603050405020304" pitchFamily="18" charset="0"/>
                        </a:rPr>
                        <a:t>Images</a:t>
                      </a:r>
                      <a:r>
                        <a:rPr lang="en-IN" sz="1100" dirty="0">
                          <a:latin typeface="Times New Roman" panose="02020603050405020304" pitchFamily="18" charset="0"/>
                          <a:cs typeface="Times New Roman" panose="02020603050405020304" pitchFamily="18" charset="0"/>
                        </a:rPr>
                        <a:t>: 2172 </a:t>
                      </a:r>
                      <a:r>
                        <a:rPr lang="en-IN" sz="1100" dirty="0" err="1">
                          <a:latin typeface="Times New Roman" panose="02020603050405020304" pitchFamily="18" charset="0"/>
                          <a:cs typeface="Times New Roman" panose="02020603050405020304" pitchFamily="18" charset="0"/>
                        </a:rPr>
                        <a:t>labeled</a:t>
                      </a:r>
                      <a:r>
                        <a:rPr lang="en-IN" sz="1100" dirty="0">
                          <a:latin typeface="Times New Roman" panose="02020603050405020304" pitchFamily="18" charset="0"/>
                          <a:cs typeface="Times New Roman" panose="02020603050405020304" pitchFamily="18" charset="0"/>
                        </a:rPr>
                        <a:t> images from diverse conditions</a:t>
                      </a:r>
                    </a:p>
                    <a:p>
                      <a:pPr marL="171450" indent="-171450" algn="just">
                        <a:buFont typeface="Arial" panose="020B0604020202020204" pitchFamily="34" charset="0"/>
                        <a:buChar char="•"/>
                      </a:pPr>
                      <a:r>
                        <a:rPr lang="en-IN" sz="1100" b="0" dirty="0">
                          <a:latin typeface="Times New Roman" panose="02020603050405020304" pitchFamily="18" charset="0"/>
                          <a:cs typeface="Times New Roman" panose="02020603050405020304" pitchFamily="18" charset="0"/>
                        </a:rPr>
                        <a:t>Audio</a:t>
                      </a:r>
                      <a:r>
                        <a:rPr lang="en-IN" sz="1100" dirty="0">
                          <a:latin typeface="Times New Roman" panose="02020603050405020304" pitchFamily="18" charset="0"/>
                          <a:cs typeface="Times New Roman" panose="02020603050405020304" pitchFamily="18" charset="0"/>
                        </a:rPr>
                        <a:t>: 1240 siren and 4805 non-siren .wav files + 52 synthetic mixes.</a:t>
                      </a:r>
                    </a:p>
                    <a:p>
                      <a:pPr marL="171450" indent="-171450" algn="just">
                        <a:buFont typeface="Arial" panose="020B0604020202020204" pitchFamily="34" charset="0"/>
                        <a:buChar char="•"/>
                      </a:pPr>
                      <a:r>
                        <a:rPr lang="en-IN" sz="1100" b="0" dirty="0">
                          <a:latin typeface="Times New Roman" panose="02020603050405020304" pitchFamily="18" charset="0"/>
                          <a:cs typeface="Times New Roman" panose="02020603050405020304" pitchFamily="18" charset="0"/>
                        </a:rPr>
                        <a:t>YOLOv8</a:t>
                      </a:r>
                      <a:r>
                        <a:rPr lang="en-IN" sz="1100" dirty="0">
                          <a:latin typeface="Times New Roman" panose="02020603050405020304" pitchFamily="18" charset="0"/>
                          <a:cs typeface="Times New Roman" panose="02020603050405020304" pitchFamily="18" charset="0"/>
                        </a:rPr>
                        <a:t> custom-trained object detectors.</a:t>
                      </a:r>
                    </a:p>
                    <a:p>
                      <a:pPr marL="171450" indent="-171450" algn="just">
                        <a:buFont typeface="Arial" panose="020B0604020202020204" pitchFamily="34" charset="0"/>
                        <a:buChar char="•"/>
                      </a:pPr>
                      <a:r>
                        <a:rPr lang="en-IN" sz="1100" b="0" dirty="0">
                          <a:latin typeface="Times New Roman" panose="02020603050405020304" pitchFamily="18" charset="0"/>
                          <a:cs typeface="Times New Roman" panose="02020603050405020304" pitchFamily="18" charset="0"/>
                        </a:rPr>
                        <a:t>MFCC-based neural network </a:t>
                      </a:r>
                      <a:r>
                        <a:rPr lang="en-IN" sz="1100" dirty="0">
                          <a:latin typeface="Times New Roman" panose="02020603050405020304" pitchFamily="18" charset="0"/>
                          <a:cs typeface="Times New Roman" panose="02020603050405020304" pitchFamily="18" charset="0"/>
                        </a:rPr>
                        <a:t>for siren detection.</a:t>
                      </a:r>
                    </a:p>
                    <a:p>
                      <a:pPr marL="171450" indent="-171450" algn="just">
                        <a:buFont typeface="Arial" panose="020B0604020202020204" pitchFamily="34" charset="0"/>
                        <a:buChar char="•"/>
                      </a:pPr>
                      <a:r>
                        <a:rPr lang="en-IN" sz="1100" dirty="0">
                          <a:latin typeface="Times New Roman" panose="02020603050405020304" pitchFamily="18" charset="0"/>
                          <a:cs typeface="Times New Roman" panose="02020603050405020304" pitchFamily="18" charset="0"/>
                        </a:rPr>
                        <a:t>Part-Based Model architecture.</a:t>
                      </a:r>
                    </a:p>
                    <a:p>
                      <a:pPr marL="171450" indent="-171450" algn="just">
                        <a:buFont typeface="Arial" panose="020B0604020202020204" pitchFamily="34" charset="0"/>
                        <a:buChar char="•"/>
                      </a:pPr>
                      <a:r>
                        <a:rPr lang="en-IN" sz="1100" b="0" dirty="0">
                          <a:latin typeface="Times New Roman" panose="02020603050405020304" pitchFamily="18" charset="0"/>
                          <a:cs typeface="Times New Roman" panose="02020603050405020304" pitchFamily="18" charset="0"/>
                        </a:rPr>
                        <a:t>RTAIAED system </a:t>
                      </a:r>
                      <a:r>
                        <a:rPr lang="en-IN" sz="1100" dirty="0">
                          <a:latin typeface="Times New Roman" panose="02020603050405020304" pitchFamily="18" charset="0"/>
                          <a:cs typeface="Times New Roman" panose="02020603050405020304" pitchFamily="18" charset="0"/>
                        </a:rPr>
                        <a:t>tested on Jetson Nano and Raspberry Pi 5 with</a:t>
                      </a:r>
                      <a:r>
                        <a:rPr lang="en-IN" sz="1100" b="0" dirty="0">
                          <a:latin typeface="Times New Roman" panose="02020603050405020304" pitchFamily="18" charset="0"/>
                          <a:cs typeface="Times New Roman" panose="02020603050405020304" pitchFamily="18" charset="0"/>
                        </a:rPr>
                        <a:t> LoRa wireless </a:t>
                      </a:r>
                      <a:r>
                        <a:rPr lang="en-IN" sz="1100" dirty="0">
                          <a:latin typeface="Times New Roman" panose="02020603050405020304" pitchFamily="18" charset="0"/>
                          <a:cs typeface="Times New Roman" panose="02020603050405020304" pitchFamily="18" charset="0"/>
                        </a:rPr>
                        <a:t>communication to traffic signals</a:t>
                      </a:r>
                    </a:p>
                  </a:txBody>
                  <a:tcPr marL="91453" marR="91453" marT="45731" marB="45731"/>
                </a:tc>
                <a:tc>
                  <a:txBody>
                    <a:body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100" b="0" dirty="0">
                          <a:latin typeface="Times New Roman" panose="02020603050405020304" pitchFamily="18" charset="0"/>
                          <a:cs typeface="Times New Roman" panose="02020603050405020304" pitchFamily="18" charset="0"/>
                        </a:rPr>
                        <a:t>Prior systems detect emergency vehicles using either audio or video but not both.</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100" b="0" dirty="0">
                          <a:latin typeface="Times New Roman" panose="02020603050405020304" pitchFamily="18" charset="0"/>
                          <a:cs typeface="Times New Roman" panose="02020603050405020304" pitchFamily="18" charset="0"/>
                        </a:rPr>
                        <a:t>Existing models lacked directional awareness and emergency context. </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100" b="0" dirty="0">
                          <a:latin typeface="Times New Roman" panose="02020603050405020304" pitchFamily="18" charset="0"/>
                          <a:cs typeface="Times New Roman" panose="02020603050405020304" pitchFamily="18" charset="0"/>
                        </a:rPr>
                        <a:t>Limited prior focus on one-way traffic regulation and double-red phases.</a:t>
                      </a:r>
                      <a:endParaRPr lang="en-US" sz="1100" b="0" dirty="0">
                        <a:latin typeface="Times New Roman" panose="02020603050405020304" pitchFamily="18" charset="0"/>
                        <a:ea typeface="Cambria" panose="02040503050406030204" pitchFamily="18" charset="0"/>
                        <a:cs typeface="Times New Roman" panose="02020603050405020304" pitchFamily="18" charset="0"/>
                      </a:endParaRPr>
                    </a:p>
                  </a:txBody>
                  <a:tcPr marL="91453" marR="91453" marT="45731" marB="45731"/>
                </a:tc>
                <a:extLst>
                  <a:ext uri="{0D108BD9-81ED-4DB2-BD59-A6C34878D82A}">
                    <a16:rowId xmlns:a16="http://schemas.microsoft.com/office/drawing/2014/main" val="2505083476"/>
                  </a:ext>
                </a:extLst>
              </a:tr>
              <a:tr h="1963052">
                <a:tc>
                  <a:txBody>
                    <a:bodyPr/>
                    <a:lstStyle/>
                    <a:p>
                      <a:pPr algn="ctr"/>
                      <a:r>
                        <a:rPr lang="en-US" sz="1100" dirty="0">
                          <a:latin typeface="Times New Roman" panose="02020603050405020304" pitchFamily="18" charset="0"/>
                          <a:ea typeface="Cambria" panose="02040503050406030204" pitchFamily="18" charset="0"/>
                          <a:cs typeface="Times New Roman" panose="02020603050405020304" pitchFamily="18" charset="0"/>
                        </a:rPr>
                        <a:t>10</a:t>
                      </a:r>
                    </a:p>
                  </a:txBody>
                  <a:tcPr marL="91453" marR="91453" marT="45731" marB="45731"/>
                </a:tc>
                <a:tc>
                  <a:txBody>
                    <a:bodyPr/>
                    <a:lstStyle/>
                    <a:p>
                      <a:r>
                        <a:rPr lang="en-IN" sz="1100" kern="1200" dirty="0">
                          <a:solidFill>
                            <a:schemeClr val="dk1"/>
                          </a:solidFill>
                          <a:effectLst/>
                          <a:latin typeface="Times New Roman" panose="02020603050405020304" pitchFamily="18" charset="0"/>
                          <a:ea typeface="+mn-ea"/>
                          <a:cs typeface="Times New Roman" panose="02020603050405020304" pitchFamily="18" charset="0"/>
                        </a:rPr>
                        <a:t>Remote patient monitoring using artificial intelligence:</a:t>
                      </a:r>
                    </a:p>
                    <a:p>
                      <a:r>
                        <a:rPr lang="en-IN" sz="1100" kern="1200" dirty="0">
                          <a:solidFill>
                            <a:schemeClr val="dk1"/>
                          </a:solidFill>
                          <a:effectLst/>
                          <a:latin typeface="Times New Roman" panose="02020603050405020304" pitchFamily="18" charset="0"/>
                          <a:ea typeface="+mn-ea"/>
                          <a:cs typeface="Times New Roman" panose="02020603050405020304" pitchFamily="18" charset="0"/>
                        </a:rPr>
                        <a:t>Current state, applications, and challenges.</a:t>
                      </a:r>
                    </a:p>
                    <a:p>
                      <a:r>
                        <a:rPr lang="en-IN" sz="1100" kern="1200" dirty="0" err="1">
                          <a:solidFill>
                            <a:schemeClr val="dk1"/>
                          </a:solidFill>
                          <a:effectLst/>
                          <a:latin typeface="Times New Roman" panose="02020603050405020304" pitchFamily="18" charset="0"/>
                          <a:ea typeface="+mn-ea"/>
                          <a:cs typeface="Times New Roman" panose="02020603050405020304" pitchFamily="18" charset="0"/>
                        </a:rPr>
                        <a:t>Author:Thanveer</a:t>
                      </a:r>
                      <a:r>
                        <a:rPr lang="en-IN" sz="1100" kern="1200" dirty="0">
                          <a:solidFill>
                            <a:schemeClr val="dk1"/>
                          </a:solidFill>
                          <a:effectLst/>
                          <a:latin typeface="Times New Roman" panose="02020603050405020304" pitchFamily="18" charset="0"/>
                          <a:ea typeface="+mn-ea"/>
                          <a:cs typeface="Times New Roman" panose="02020603050405020304" pitchFamily="18" charset="0"/>
                        </a:rPr>
                        <a:t> </a:t>
                      </a:r>
                      <a:r>
                        <a:rPr lang="en-IN" sz="1100" kern="1200" dirty="0" err="1">
                          <a:solidFill>
                            <a:schemeClr val="dk1"/>
                          </a:solidFill>
                          <a:effectLst/>
                          <a:latin typeface="Times New Roman" panose="02020603050405020304" pitchFamily="18" charset="0"/>
                          <a:ea typeface="+mn-ea"/>
                          <a:cs typeface="Times New Roman" panose="02020603050405020304" pitchFamily="18" charset="0"/>
                        </a:rPr>
                        <a:t>Shaik,Xiaohui</a:t>
                      </a:r>
                      <a:r>
                        <a:rPr lang="en-IN" sz="1100" kern="1200" dirty="0">
                          <a:solidFill>
                            <a:schemeClr val="dk1"/>
                          </a:solidFill>
                          <a:effectLst/>
                          <a:latin typeface="Times New Roman" panose="02020603050405020304" pitchFamily="18" charset="0"/>
                          <a:ea typeface="+mn-ea"/>
                          <a:cs typeface="Times New Roman" panose="02020603050405020304" pitchFamily="18" charset="0"/>
                        </a:rPr>
                        <a:t> </a:t>
                      </a:r>
                      <a:r>
                        <a:rPr lang="en-IN" sz="1100" kern="1200" dirty="0" err="1">
                          <a:solidFill>
                            <a:schemeClr val="dk1"/>
                          </a:solidFill>
                          <a:effectLst/>
                          <a:latin typeface="Times New Roman" panose="02020603050405020304" pitchFamily="18" charset="0"/>
                          <a:ea typeface="+mn-ea"/>
                          <a:cs typeface="Times New Roman" panose="02020603050405020304" pitchFamily="18" charset="0"/>
                        </a:rPr>
                        <a:t>Tao,Niall</a:t>
                      </a:r>
                      <a:r>
                        <a:rPr lang="en-IN" sz="1100" kern="1200" dirty="0">
                          <a:solidFill>
                            <a:schemeClr val="dk1"/>
                          </a:solidFill>
                          <a:effectLst/>
                          <a:latin typeface="Times New Roman" panose="02020603050405020304" pitchFamily="18" charset="0"/>
                          <a:ea typeface="+mn-ea"/>
                          <a:cs typeface="Times New Roman" panose="02020603050405020304" pitchFamily="18" charset="0"/>
                        </a:rPr>
                        <a:t> </a:t>
                      </a:r>
                      <a:r>
                        <a:rPr lang="en-IN" sz="1100" kern="1200" dirty="0" err="1">
                          <a:solidFill>
                            <a:schemeClr val="dk1"/>
                          </a:solidFill>
                          <a:effectLst/>
                          <a:latin typeface="Times New Roman" panose="02020603050405020304" pitchFamily="18" charset="0"/>
                          <a:ea typeface="+mn-ea"/>
                          <a:cs typeface="Times New Roman" panose="02020603050405020304" pitchFamily="18" charset="0"/>
                        </a:rPr>
                        <a:t>Higgins,Lin</a:t>
                      </a:r>
                      <a:r>
                        <a:rPr lang="en-IN" sz="1100" kern="1200" dirty="0">
                          <a:solidFill>
                            <a:schemeClr val="dk1"/>
                          </a:solidFill>
                          <a:effectLst/>
                          <a:latin typeface="Times New Roman" panose="02020603050405020304" pitchFamily="18" charset="0"/>
                          <a:ea typeface="+mn-ea"/>
                          <a:cs typeface="Times New Roman" panose="02020603050405020304" pitchFamily="18" charset="0"/>
                        </a:rPr>
                        <a:t> Li</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100" kern="1200" dirty="0">
                          <a:solidFill>
                            <a:schemeClr val="dk1"/>
                          </a:solidFill>
                          <a:effectLst/>
                          <a:latin typeface="Times New Roman" panose="02020603050405020304" pitchFamily="18" charset="0"/>
                          <a:ea typeface="+mn-ea"/>
                          <a:cs typeface="Times New Roman" panose="02020603050405020304" pitchFamily="18" charset="0"/>
                        </a:rPr>
                        <a:t>Raj Gururajan, </a:t>
                      </a:r>
                      <a:r>
                        <a:rPr lang="en-IN" sz="1100" kern="1200" dirty="0" err="1">
                          <a:solidFill>
                            <a:schemeClr val="dk1"/>
                          </a:solidFill>
                          <a:effectLst/>
                          <a:latin typeface="Times New Roman" panose="02020603050405020304" pitchFamily="18" charset="0"/>
                          <a:ea typeface="+mn-ea"/>
                          <a:cs typeface="Times New Roman" panose="02020603050405020304" pitchFamily="18" charset="0"/>
                        </a:rPr>
                        <a:t>Xujuan</a:t>
                      </a:r>
                      <a:r>
                        <a:rPr lang="en-IN" sz="1100" kern="1200" dirty="0">
                          <a:solidFill>
                            <a:schemeClr val="dk1"/>
                          </a:solidFill>
                          <a:effectLst/>
                          <a:latin typeface="Times New Roman" panose="02020603050405020304" pitchFamily="18" charset="0"/>
                          <a:ea typeface="+mn-ea"/>
                          <a:cs typeface="Times New Roman" panose="02020603050405020304" pitchFamily="18" charset="0"/>
                        </a:rPr>
                        <a:t> Zhou. U. Rajendra Acharya.</a:t>
                      </a:r>
                    </a:p>
                    <a:p>
                      <a:endParaRPr lang="en-IN" sz="1100" kern="1200" dirty="0">
                        <a:solidFill>
                          <a:schemeClr val="dk1"/>
                        </a:solidFill>
                        <a:effectLst/>
                        <a:latin typeface="Times New Roman" panose="02020603050405020304" pitchFamily="18" charset="0"/>
                        <a:ea typeface="+mn-ea"/>
                        <a:cs typeface="Times New Roman" panose="02020603050405020304" pitchFamily="18" charset="0"/>
                      </a:endParaRPr>
                    </a:p>
                    <a:p>
                      <a:endParaRPr lang="en-IN" sz="1100" kern="1200" dirty="0">
                        <a:solidFill>
                          <a:schemeClr val="dk1"/>
                        </a:solidFill>
                        <a:effectLst/>
                        <a:latin typeface="Times New Roman" panose="02020603050405020304" pitchFamily="18" charset="0"/>
                        <a:ea typeface="+mn-ea"/>
                        <a:cs typeface="Times New Roman" panose="02020603050405020304" pitchFamily="18" charset="0"/>
                      </a:endParaRPr>
                    </a:p>
                    <a:p>
                      <a:pPr algn="just"/>
                      <a:endParaRPr lang="en-US" sz="1100" dirty="0">
                        <a:latin typeface="Times New Roman" panose="02020603050405020304" pitchFamily="18" charset="0"/>
                        <a:ea typeface="Cambria" panose="02040503050406030204" pitchFamily="18" charset="0"/>
                        <a:cs typeface="Times New Roman" panose="02020603050405020304" pitchFamily="18" charset="0"/>
                      </a:endParaRPr>
                    </a:p>
                  </a:txBody>
                  <a:tcPr marL="91453" marR="91453" marT="45731" marB="45731"/>
                </a:tc>
                <a:tc>
                  <a:txBody>
                    <a:bodyPr/>
                    <a:lstStyle/>
                    <a:p>
                      <a:pPr algn="just"/>
                      <a:r>
                        <a:rPr lang="en-IN" sz="1100" dirty="0">
                          <a:latin typeface="Times New Roman" panose="02020603050405020304" pitchFamily="18" charset="0"/>
                          <a:cs typeface="Times New Roman" panose="02020603050405020304" pitchFamily="18" charset="0"/>
                        </a:rPr>
                        <a:t>Scopus indexed.</a:t>
                      </a:r>
                    </a:p>
                    <a:p>
                      <a:pPr algn="just"/>
                      <a:r>
                        <a:rPr lang="en-US" sz="1100" dirty="0">
                          <a:latin typeface="Times New Roman" panose="02020603050405020304" pitchFamily="18" charset="0"/>
                          <a:ea typeface="Cambria" panose="02040503050406030204" pitchFamily="18" charset="0"/>
                          <a:cs typeface="Times New Roman" panose="02020603050405020304" pitchFamily="18" charset="0"/>
                        </a:rPr>
                        <a:t>Published : </a:t>
                      </a:r>
                      <a:r>
                        <a:rPr lang="en-IN" sz="1100" dirty="0">
                          <a:latin typeface="Times New Roman" panose="02020603050405020304" pitchFamily="18" charset="0"/>
                          <a:cs typeface="Times New Roman" panose="02020603050405020304" pitchFamily="18" charset="0"/>
                        </a:rPr>
                        <a:t>17 Jan 2023</a:t>
                      </a:r>
                    </a:p>
                  </a:txBody>
                  <a:tcPr marL="91453" marR="91453" marT="45731" marB="45731"/>
                </a:tc>
                <a:tc>
                  <a:txBody>
                    <a:bodyPr/>
                    <a:lstStyle/>
                    <a:p>
                      <a:pPr algn="just"/>
                      <a:r>
                        <a:rPr lang="en-IN" sz="1100" dirty="0">
                          <a:latin typeface="Times New Roman" panose="02020603050405020304" pitchFamily="18" charset="0"/>
                          <a:cs typeface="Times New Roman" panose="02020603050405020304" pitchFamily="18" charset="0"/>
                        </a:rPr>
                        <a:t>Survey of AI techniques (SMOTE, KNN, SVM, RL, etc.); no new dataset</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100" dirty="0">
                          <a:latin typeface="Times New Roman" panose="02020603050405020304" pitchFamily="18" charset="0"/>
                          <a:cs typeface="Times New Roman" panose="02020603050405020304" pitchFamily="18" charset="0"/>
                        </a:rPr>
                        <a:t>Focused only on physical vital signs, excludes EEG/neurological systems; lacks empirical dataset for new model validation</a:t>
                      </a:r>
                      <a:endParaRPr lang="en-US" sz="1100" dirty="0">
                        <a:latin typeface="Times New Roman" panose="02020603050405020304" pitchFamily="18" charset="0"/>
                        <a:ea typeface="Cambria" panose="02040503050406030204" pitchFamily="18" charset="0"/>
                        <a:cs typeface="Times New Roman" panose="02020603050405020304" pitchFamily="18" charset="0"/>
                      </a:endParaRPr>
                    </a:p>
                  </a:txBody>
                  <a:tcPr marL="91453" marR="91453" marT="45731" marB="45731"/>
                </a:tc>
                <a:extLst>
                  <a:ext uri="{0D108BD9-81ED-4DB2-BD59-A6C34878D82A}">
                    <a16:rowId xmlns:a16="http://schemas.microsoft.com/office/drawing/2014/main" val="666209038"/>
                  </a:ext>
                </a:extLst>
              </a:tr>
            </a:tbl>
          </a:graphicData>
        </a:graphic>
      </p:graphicFrame>
    </p:spTree>
    <p:extLst>
      <p:ext uri="{BB962C8B-B14F-4D97-AF65-F5344CB8AC3E}">
        <p14:creationId xmlns:p14="http://schemas.microsoft.com/office/powerpoint/2010/main" val="5229196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C393E537-5582-10BF-95BB-D8DABD1D26DD}"/>
              </a:ext>
            </a:extLst>
          </p:cNvPr>
          <p:cNvSpPr>
            <a:spLocks noGrp="1"/>
          </p:cNvSpPr>
          <p:nvPr>
            <p:ph type="title"/>
          </p:nvPr>
        </p:nvSpPr>
        <p:spPr/>
        <p:txBody>
          <a:bodyPr/>
          <a:lstStyle/>
          <a:p>
            <a:pPr eaLnBrk="1" hangingPunct="1"/>
            <a:r>
              <a:rPr lang="en-IN" altLang="en-US" sz="4000" b="1">
                <a:latin typeface="Times New Roman" panose="02020603050405020304" pitchFamily="18" charset="0"/>
                <a:cs typeface="Times New Roman" panose="02020603050405020304" pitchFamily="18" charset="0"/>
              </a:rPr>
              <a:t>Architecture</a:t>
            </a:r>
          </a:p>
        </p:txBody>
      </p:sp>
      <p:sp>
        <p:nvSpPr>
          <p:cNvPr id="14340" name="Slide Number Placeholder 7">
            <a:extLst>
              <a:ext uri="{FF2B5EF4-FFF2-40B4-BE49-F238E27FC236}">
                <a16:creationId xmlns:a16="http://schemas.microsoft.com/office/drawing/2014/main" id="{D06956DB-1B98-AB72-3C9E-72506E8DFEB9}"/>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B971580A-1FE5-7C48-8905-7A33AF773AFB}" type="slidenum">
              <a:rPr lang="en-IN" altLang="en-US" sz="1200">
                <a:solidFill>
                  <a:srgbClr val="898989"/>
                </a:solidFill>
                <a:latin typeface="Times New Roman" panose="02020603050405020304" pitchFamily="18" charset="0"/>
                <a:cs typeface="Times New Roman" panose="02020603050405020304" pitchFamily="18" charset="0"/>
              </a:rPr>
              <a:pPr>
                <a:lnSpc>
                  <a:spcPct val="100000"/>
                </a:lnSpc>
                <a:spcBef>
                  <a:spcPct val="0"/>
                </a:spcBef>
                <a:buFontTx/>
                <a:buNone/>
              </a:pPr>
              <a:t>12</a:t>
            </a:fld>
            <a:endParaRPr lang="en-IN" altLang="en-US" sz="1200">
              <a:solidFill>
                <a:srgbClr val="898989"/>
              </a:solidFill>
              <a:latin typeface="Times New Roman" panose="02020603050405020304" pitchFamily="18" charset="0"/>
              <a:cs typeface="Times New Roman" panose="02020603050405020304" pitchFamily="18" charset="0"/>
            </a:endParaRPr>
          </a:p>
        </p:txBody>
      </p:sp>
      <p:sp>
        <p:nvSpPr>
          <p:cNvPr id="9" name="Footer Placeholder 8">
            <a:extLst>
              <a:ext uri="{FF2B5EF4-FFF2-40B4-BE49-F238E27FC236}">
                <a16:creationId xmlns:a16="http://schemas.microsoft.com/office/drawing/2014/main" id="{4F07B2A9-7E37-459D-B6CA-3EE221E02532}"/>
              </a:ext>
            </a:extLst>
          </p:cNvPr>
          <p:cNvSpPr>
            <a:spLocks noGrp="1"/>
          </p:cNvSpPr>
          <p:nvPr>
            <p:ph type="ftr" sz="quarter" idx="10"/>
          </p:nvPr>
        </p:nvSpPr>
        <p:spPr>
          <a:xfrm>
            <a:off x="0" y="6176963"/>
            <a:ext cx="8153400" cy="544512"/>
          </a:xfrm>
        </p:spPr>
        <p:txBody>
          <a:bodyPr/>
          <a:lstStyle/>
          <a:p>
            <a:pPr>
              <a:defRPr/>
            </a:pPr>
            <a:r>
              <a:rPr lang="en-US">
                <a:latin typeface="Times New Roman" panose="02020603050405020304" pitchFamily="18" charset="0"/>
                <a:cs typeface="Times New Roman" panose="02020603050405020304" pitchFamily="18" charset="0"/>
              </a:rPr>
              <a:t>Dept of CSE,GAT                                                                                                    2024-25                                                                                                                                                                        </a:t>
            </a:r>
            <a:endParaRPr lang="en-IN" dirty="0">
              <a:latin typeface="Times New Roman" panose="02020603050405020304" pitchFamily="18" charset="0"/>
              <a:cs typeface="Times New Roman" panose="02020603050405020304" pitchFamily="18" charset="0"/>
            </a:endParaRPr>
          </a:p>
        </p:txBody>
      </p:sp>
      <p:pic>
        <p:nvPicPr>
          <p:cNvPr id="10" name="Content Placeholder 9">
            <a:extLst>
              <a:ext uri="{FF2B5EF4-FFF2-40B4-BE49-F238E27FC236}">
                <a16:creationId xmlns:a16="http://schemas.microsoft.com/office/drawing/2014/main" id="{D6DE6295-75E9-A1D1-5A6C-3EDD3EC28E3B}"/>
              </a:ext>
            </a:extLst>
          </p:cNvPr>
          <p:cNvPicPr>
            <a:picLocks noGrp="1" noChangeAspect="1"/>
          </p:cNvPicPr>
          <p:nvPr>
            <p:ph idx="1"/>
          </p:nvPr>
        </p:nvPicPr>
        <p:blipFill>
          <a:blip r:embed="rId2"/>
          <a:stretch>
            <a:fillRect/>
          </a:stretch>
        </p:blipFill>
        <p:spPr>
          <a:xfrm>
            <a:off x="3973286" y="1121230"/>
            <a:ext cx="4180114" cy="5235120"/>
          </a:xfr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5"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rot="16200000">
            <a:off x="800100" y="1492250"/>
            <a:ext cx="3333750" cy="3498850"/>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5363" name="Title 1">
            <a:extLst>
              <a:ext uri="{FF2B5EF4-FFF2-40B4-BE49-F238E27FC236}">
                <a16:creationId xmlns:a16="http://schemas.microsoft.com/office/drawing/2014/main" id="{A85BC856-E4DD-444E-1A9E-36300C0DD158}"/>
              </a:ext>
            </a:extLst>
          </p:cNvPr>
          <p:cNvSpPr>
            <a:spLocks noGrp="1"/>
          </p:cNvSpPr>
          <p:nvPr>
            <p:ph type="title"/>
          </p:nvPr>
        </p:nvSpPr>
        <p:spPr>
          <a:xfrm>
            <a:off x="1028700" y="1966913"/>
            <a:ext cx="2997200" cy="2547937"/>
          </a:xfrm>
        </p:spPr>
        <p:txBody>
          <a:bodyPr/>
          <a:lstStyle/>
          <a:p>
            <a:pPr algn="ctr" eaLnBrk="1" hangingPunct="1"/>
            <a:r>
              <a:rPr lang="en-US" altLang="en-US" sz="4000" b="1" dirty="0">
                <a:solidFill>
                  <a:srgbClr val="FFFFFF"/>
                </a:solidFill>
                <a:latin typeface="Times New Roman" panose="02020603050405020304" pitchFamily="18" charset="0"/>
                <a:cs typeface="Times New Roman" panose="02020603050405020304" pitchFamily="18" charset="0"/>
              </a:rPr>
              <a:t>Sample Architecture </a:t>
            </a:r>
          </a:p>
        </p:txBody>
      </p:sp>
      <p:sp>
        <p:nvSpPr>
          <p:cNvPr id="9" name="Footer Placeholder 8">
            <a:extLst>
              <a:ext uri="{FF2B5EF4-FFF2-40B4-BE49-F238E27FC236}">
                <a16:creationId xmlns:a16="http://schemas.microsoft.com/office/drawing/2014/main" id="{2340745B-CC87-40BC-BC51-375C1659C408}"/>
              </a:ext>
            </a:extLst>
          </p:cNvPr>
          <p:cNvSpPr>
            <a:spLocks noGrp="1"/>
          </p:cNvSpPr>
          <p:nvPr>
            <p:ph type="ftr" sz="quarter" idx="10"/>
          </p:nvPr>
        </p:nvSpPr>
        <p:spPr>
          <a:xfrm>
            <a:off x="1028700" y="6356350"/>
            <a:ext cx="6210300" cy="365125"/>
          </a:xfrm>
        </p:spPr>
        <p:txBody>
          <a:bodyPr>
            <a:normAutofit/>
          </a:bodyPr>
          <a:lstStyle/>
          <a:p>
            <a:pPr algn="l">
              <a:spcAft>
                <a:spcPts val="600"/>
              </a:spcAft>
              <a:defRPr/>
            </a:pPr>
            <a:r>
              <a:rPr lang="en-US">
                <a:solidFill>
                  <a:schemeClr val="tx1">
                    <a:alpha val="80000"/>
                  </a:schemeClr>
                </a:solidFill>
                <a:latin typeface="Times New Roman" panose="02020603050405020304" pitchFamily="18" charset="0"/>
                <a:cs typeface="Times New Roman" panose="02020603050405020304" pitchFamily="18" charset="0"/>
              </a:rPr>
              <a:t>Dept of CSE,GAT                                                                                                    2024-25                                                                                                                                                                        </a:t>
            </a:r>
          </a:p>
        </p:txBody>
      </p:sp>
      <p:sp>
        <p:nvSpPr>
          <p:cNvPr id="8" name="Slide Number Placeholder 7">
            <a:extLst>
              <a:ext uri="{FF2B5EF4-FFF2-40B4-BE49-F238E27FC236}">
                <a16:creationId xmlns:a16="http://schemas.microsoft.com/office/drawing/2014/main" id="{3C6B87C4-2BF3-47CF-9A10-1953B1F4F3B0}"/>
              </a:ext>
            </a:extLst>
          </p:cNvPr>
          <p:cNvSpPr>
            <a:spLocks noGrp="1"/>
          </p:cNvSpPr>
          <p:nvPr>
            <p:ph type="sldNum" sz="quarter" idx="11"/>
          </p:nvPr>
        </p:nvSpPr>
        <p:spPr>
          <a:xfrm>
            <a:off x="11034184" y="6356350"/>
            <a:ext cx="514349" cy="365125"/>
          </a:xfrm>
        </p:spPr>
        <p:txBody>
          <a:bodyPr rtlCol="0">
            <a:norm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Aft>
                <a:spcPts val="600"/>
              </a:spcAft>
              <a:defRPr/>
            </a:pPr>
            <a:fld id="{B2113666-AD06-B24E-92BA-342A9D1AE6DB}" type="slidenum">
              <a:rPr lang="en-US" altLang="en-US">
                <a:solidFill>
                  <a:schemeClr val="tx1">
                    <a:alpha val="80000"/>
                  </a:schemeClr>
                </a:solidFill>
                <a:latin typeface="Times New Roman" panose="02020603050405020304" pitchFamily="18" charset="0"/>
                <a:cs typeface="Times New Roman" panose="02020603050405020304" pitchFamily="18" charset="0"/>
              </a:rPr>
              <a:pPr>
                <a:spcAft>
                  <a:spcPts val="600"/>
                </a:spcAft>
                <a:defRPr/>
              </a:pPr>
              <a:t>13</a:t>
            </a:fld>
            <a:endParaRPr lang="en-US" altLang="en-US">
              <a:solidFill>
                <a:schemeClr val="tx1">
                  <a:alpha val="80000"/>
                </a:schemeClr>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2386B641-6C62-228A-D626-3EB4D0DC5FC9}"/>
              </a:ext>
            </a:extLst>
          </p:cNvPr>
          <p:cNvPicPr>
            <a:picLocks noChangeAspect="1"/>
          </p:cNvPicPr>
          <p:nvPr/>
        </p:nvPicPr>
        <p:blipFill>
          <a:blip r:embed="rId2"/>
          <a:stretch>
            <a:fillRect/>
          </a:stretch>
        </p:blipFill>
        <p:spPr>
          <a:xfrm>
            <a:off x="5290457" y="279966"/>
            <a:ext cx="4572000" cy="592182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295" name="Rectangle 12294">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6387" name="Title 1">
            <a:extLst>
              <a:ext uri="{FF2B5EF4-FFF2-40B4-BE49-F238E27FC236}">
                <a16:creationId xmlns:a16="http://schemas.microsoft.com/office/drawing/2014/main" id="{CCF5EA12-1FE9-337F-F0EB-4CFC7458A75B}"/>
              </a:ext>
            </a:extLst>
          </p:cNvPr>
          <p:cNvSpPr>
            <a:spLocks noGrp="1"/>
          </p:cNvSpPr>
          <p:nvPr>
            <p:ph type="title"/>
          </p:nvPr>
        </p:nvSpPr>
        <p:spPr>
          <a:xfrm>
            <a:off x="630238" y="639763"/>
            <a:ext cx="3429000" cy="1719262"/>
          </a:xfrm>
        </p:spPr>
        <p:txBody>
          <a:bodyPr anchor="b"/>
          <a:lstStyle/>
          <a:p>
            <a:pPr eaLnBrk="1" hangingPunct="1"/>
            <a:r>
              <a:rPr lang="en-US" altLang="en-US" sz="5400" b="1">
                <a:latin typeface="Times New Roman" panose="02020603050405020304" pitchFamily="18" charset="0"/>
                <a:cs typeface="Times New Roman" panose="02020603050405020304" pitchFamily="18" charset="0"/>
              </a:rPr>
              <a:t>Data Flow Diagram</a:t>
            </a:r>
          </a:p>
        </p:txBody>
      </p:sp>
      <p:sp>
        <p:nvSpPr>
          <p:cNvPr id="9" name="Footer Placeholder 8">
            <a:extLst>
              <a:ext uri="{FF2B5EF4-FFF2-40B4-BE49-F238E27FC236}">
                <a16:creationId xmlns:a16="http://schemas.microsoft.com/office/drawing/2014/main" id="{2340745B-CC87-40BC-BC51-375C1659C408}"/>
              </a:ext>
            </a:extLst>
          </p:cNvPr>
          <p:cNvSpPr>
            <a:spLocks noGrp="1"/>
          </p:cNvSpPr>
          <p:nvPr>
            <p:ph type="ftr" sz="quarter" idx="10"/>
          </p:nvPr>
        </p:nvSpPr>
        <p:spPr>
          <a:xfrm>
            <a:off x="-528638" y="6075363"/>
            <a:ext cx="8682038" cy="646112"/>
          </a:xfrm>
        </p:spPr>
        <p:txBody>
          <a:bodyPr>
            <a:normAutofit/>
          </a:bodyPr>
          <a:lstStyle/>
          <a:p>
            <a:pPr>
              <a:spcAft>
                <a:spcPts val="600"/>
              </a:spcAft>
              <a:defRPr/>
            </a:pPr>
            <a:r>
              <a:rPr lang="en-US">
                <a:latin typeface="Times New Roman" panose="02020603050405020304" pitchFamily="18" charset="0"/>
                <a:cs typeface="Times New Roman" panose="02020603050405020304" pitchFamily="18" charset="0"/>
              </a:rPr>
              <a:t>Dept of CSE,GAT                                                                                                    2024-25                                                                                                                                                                        </a:t>
            </a:r>
          </a:p>
        </p:txBody>
      </p:sp>
      <p:sp>
        <p:nvSpPr>
          <p:cNvPr id="16391" name="Slide Number Placeholder 7">
            <a:extLst>
              <a:ext uri="{FF2B5EF4-FFF2-40B4-BE49-F238E27FC236}">
                <a16:creationId xmlns:a16="http://schemas.microsoft.com/office/drawing/2014/main" id="{FBB7F10D-2BDE-1EA7-7292-95B64D5EC9AF}"/>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spcAft>
                <a:spcPts val="600"/>
              </a:spcAft>
              <a:buFontTx/>
              <a:buNone/>
            </a:pPr>
            <a:fld id="{4B2F0666-C3FB-1448-9472-D4F07C39F1BE}" type="slidenum">
              <a:rPr lang="en-US" altLang="en-US" sz="1200">
                <a:latin typeface="Times New Roman" panose="02020603050405020304" pitchFamily="18" charset="0"/>
                <a:cs typeface="Times New Roman" panose="02020603050405020304" pitchFamily="18" charset="0"/>
              </a:rPr>
              <a:pPr>
                <a:lnSpc>
                  <a:spcPct val="100000"/>
                </a:lnSpc>
                <a:spcBef>
                  <a:spcPct val="0"/>
                </a:spcBef>
                <a:spcAft>
                  <a:spcPts val="600"/>
                </a:spcAft>
                <a:buFontTx/>
                <a:buNone/>
              </a:pPr>
              <a:t>14</a:t>
            </a:fld>
            <a:endParaRPr lang="en-US" altLang="en-US" sz="120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637F42E-E70C-6376-BB5A-CAB7389920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9476" y="68262"/>
            <a:ext cx="5221440" cy="67214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FB96E3B6-AB3E-7D0B-EB50-16BE797EC87E}"/>
              </a:ext>
            </a:extLst>
          </p:cNvPr>
          <p:cNvSpPr>
            <a:spLocks noGrp="1"/>
          </p:cNvSpPr>
          <p:nvPr>
            <p:ph type="title"/>
          </p:nvPr>
        </p:nvSpPr>
        <p:spPr/>
        <p:txBody>
          <a:bodyPr/>
          <a:lstStyle/>
          <a:p>
            <a:pPr eaLnBrk="1" hangingPunct="1"/>
            <a:r>
              <a:rPr lang="en-US" altLang="en-US" sz="4000" b="1">
                <a:latin typeface="Times New Roman" panose="02020603050405020304" pitchFamily="18" charset="0"/>
                <a:cs typeface="Times New Roman" panose="02020603050405020304" pitchFamily="18" charset="0"/>
              </a:rPr>
              <a:t>Algorithm designed for the Complete work </a:t>
            </a:r>
          </a:p>
        </p:txBody>
      </p:sp>
      <p:sp>
        <p:nvSpPr>
          <p:cNvPr id="4" name="Footer Placeholder 3">
            <a:extLst>
              <a:ext uri="{FF2B5EF4-FFF2-40B4-BE49-F238E27FC236}">
                <a16:creationId xmlns:a16="http://schemas.microsoft.com/office/drawing/2014/main" id="{C66B68A0-FB92-A13D-C64E-0A67043F6521}"/>
              </a:ext>
            </a:extLst>
          </p:cNvPr>
          <p:cNvSpPr>
            <a:spLocks noGrp="1"/>
          </p:cNvSpPr>
          <p:nvPr>
            <p:ph type="ftr" sz="quarter" idx="10"/>
          </p:nvPr>
        </p:nvSpPr>
        <p:spPr>
          <a:xfrm>
            <a:off x="274638" y="6176963"/>
            <a:ext cx="7878762" cy="544512"/>
          </a:xfrm>
        </p:spPr>
        <p:txBody>
          <a:bodyPr/>
          <a:lstStyle/>
          <a:p>
            <a:pPr>
              <a:defRPr/>
            </a:pPr>
            <a:r>
              <a:rPr lang="en-US" dirty="0">
                <a:latin typeface="Times New Roman" panose="02020603050405020304" pitchFamily="18" charset="0"/>
                <a:cs typeface="Times New Roman" panose="02020603050405020304" pitchFamily="18" charset="0"/>
              </a:rPr>
              <a:t>Dept of CSE,GAT                                                                                                    2024-25                                                                                                                                                                        </a:t>
            </a:r>
            <a:endParaRPr lang="en-IN" dirty="0">
              <a:latin typeface="Times New Roman" panose="02020603050405020304" pitchFamily="18" charset="0"/>
              <a:cs typeface="Times New Roman" panose="02020603050405020304" pitchFamily="18" charset="0"/>
            </a:endParaRPr>
          </a:p>
        </p:txBody>
      </p:sp>
      <p:sp>
        <p:nvSpPr>
          <p:cNvPr id="17412" name="Slide Number Placeholder 4">
            <a:extLst>
              <a:ext uri="{FF2B5EF4-FFF2-40B4-BE49-F238E27FC236}">
                <a16:creationId xmlns:a16="http://schemas.microsoft.com/office/drawing/2014/main" id="{B9C76821-8DDA-46C8-923B-9D086ADE479B}"/>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62304DF-CFAA-5D44-9041-C72576669EDB}" type="slidenum">
              <a:rPr lang="en-IN" altLang="en-US">
                <a:solidFill>
                  <a:srgbClr val="898989"/>
                </a:solidFill>
                <a:latin typeface="Times New Roman" panose="02020603050405020304" pitchFamily="18" charset="0"/>
                <a:cs typeface="Times New Roman" panose="02020603050405020304" pitchFamily="18" charset="0"/>
              </a:rPr>
              <a:pPr/>
              <a:t>15</a:t>
            </a:fld>
            <a:endParaRPr lang="en-IN" altLang="en-US">
              <a:solidFill>
                <a:srgbClr val="898989"/>
              </a:solidFill>
              <a:latin typeface="Times New Roman" panose="02020603050405020304" pitchFamily="18" charset="0"/>
              <a:cs typeface="Times New Roman" panose="02020603050405020304" pitchFamily="18" charset="0"/>
            </a:endParaRPr>
          </a:p>
        </p:txBody>
      </p:sp>
      <p:sp>
        <p:nvSpPr>
          <p:cNvPr id="17413" name="Content Placeholder 5">
            <a:extLst>
              <a:ext uri="{FF2B5EF4-FFF2-40B4-BE49-F238E27FC236}">
                <a16:creationId xmlns:a16="http://schemas.microsoft.com/office/drawing/2014/main" id="{33A89741-DBD6-B2E6-DD1A-605791348691}"/>
              </a:ext>
            </a:extLst>
          </p:cNvPr>
          <p:cNvSpPr>
            <a:spLocks noGrp="1"/>
          </p:cNvSpPr>
          <p:nvPr>
            <p:ph idx="1"/>
          </p:nvPr>
        </p:nvSpPr>
        <p:spPr/>
        <p:txBody>
          <a:bodyPr/>
          <a:lstStyle/>
          <a:p>
            <a:pPr eaLnBrk="1" hangingPunct="1"/>
            <a:r>
              <a:rPr lang="en-US" altLang="en-US" dirty="0">
                <a:latin typeface="Cambria" panose="02040503050406030204" pitchFamily="18" charset="0"/>
                <a:ea typeface="Cambria" panose="02040503050406030204" pitchFamily="18" charset="0"/>
                <a:cs typeface="Cambria" panose="02040503050406030204" pitchFamily="18" charset="0"/>
              </a:rPr>
              <a:t>1. </a:t>
            </a:r>
            <a:r>
              <a:rPr lang="en-US" altLang="en-US" b="1" dirty="0">
                <a:latin typeface="Cambria" panose="02040503050406030204" pitchFamily="18" charset="0"/>
                <a:ea typeface="Cambria" panose="02040503050406030204" pitchFamily="18" charset="0"/>
                <a:cs typeface="Cambria" panose="02040503050406030204" pitchFamily="18" charset="0"/>
              </a:rPr>
              <a:t>Accident Detection Module</a:t>
            </a:r>
          </a:p>
          <a:p>
            <a:pPr eaLnBrk="1" hangingPunct="1"/>
            <a:r>
              <a:rPr lang="en-US" altLang="en-US" dirty="0">
                <a:latin typeface="Cambria" panose="02040503050406030204" pitchFamily="18" charset="0"/>
                <a:ea typeface="Cambria" panose="02040503050406030204" pitchFamily="18" charset="0"/>
                <a:cs typeface="Cambria" panose="02040503050406030204" pitchFamily="18" charset="0"/>
              </a:rPr>
              <a:t>Algorithm : Convolutional Neural Networks (CNN) combined with Support Vector Machines (SVM)</a:t>
            </a:r>
          </a:p>
          <a:p>
            <a:pPr eaLnBrk="1" hangingPunct="1"/>
            <a:r>
              <a:rPr lang="en-US" altLang="en-US" dirty="0">
                <a:latin typeface="Cambria" panose="02040503050406030204" pitchFamily="18" charset="0"/>
                <a:ea typeface="Cambria" panose="02040503050406030204" pitchFamily="18" charset="0"/>
                <a:cs typeface="Cambria" panose="02040503050406030204" pitchFamily="18" charset="0"/>
              </a:rPr>
              <a:t>2. </a:t>
            </a:r>
            <a:r>
              <a:rPr lang="en-US" altLang="en-US" b="1" dirty="0">
                <a:latin typeface="Cambria" panose="02040503050406030204" pitchFamily="18" charset="0"/>
                <a:ea typeface="Cambria" panose="02040503050406030204" pitchFamily="18" charset="0"/>
                <a:cs typeface="Cambria" panose="02040503050406030204" pitchFamily="18" charset="0"/>
              </a:rPr>
              <a:t>Ambulance Route Optimization</a:t>
            </a:r>
          </a:p>
          <a:p>
            <a:pPr eaLnBrk="1" hangingPunct="1"/>
            <a:r>
              <a:rPr lang="en-US" altLang="en-US" dirty="0">
                <a:latin typeface="Cambria" panose="02040503050406030204" pitchFamily="18" charset="0"/>
                <a:ea typeface="Cambria" panose="02040503050406030204" pitchFamily="18" charset="0"/>
                <a:cs typeface="Cambria" panose="02040503050406030204" pitchFamily="18" charset="0"/>
              </a:rPr>
              <a:t>Algorithm: Deep Reinforcement Learning with Q-Networks</a:t>
            </a:r>
          </a:p>
          <a:p>
            <a:pPr eaLnBrk="1" hangingPunct="1"/>
            <a:r>
              <a:rPr lang="en-US" altLang="en-US" dirty="0">
                <a:latin typeface="Cambria" panose="02040503050406030204" pitchFamily="18" charset="0"/>
                <a:ea typeface="Cambria" panose="02040503050406030204" pitchFamily="18" charset="0"/>
                <a:cs typeface="Cambria" panose="02040503050406030204" pitchFamily="18" charset="0"/>
              </a:rPr>
              <a:t>3. </a:t>
            </a:r>
            <a:r>
              <a:rPr lang="en-US" altLang="en-US" b="1" dirty="0">
                <a:latin typeface="Cambria" panose="02040503050406030204" pitchFamily="18" charset="0"/>
                <a:ea typeface="Cambria" panose="02040503050406030204" pitchFamily="18" charset="0"/>
                <a:cs typeface="Cambria" panose="02040503050406030204" pitchFamily="18" charset="0"/>
              </a:rPr>
              <a:t>Patient Vital Signs Monitoring</a:t>
            </a:r>
          </a:p>
          <a:p>
            <a:pPr eaLnBrk="1" hangingPunct="1"/>
            <a:r>
              <a:rPr lang="en-US" altLang="en-US" dirty="0">
                <a:latin typeface="Cambria" panose="02040503050406030204" pitchFamily="18" charset="0"/>
                <a:ea typeface="Cambria" panose="02040503050406030204" pitchFamily="18" charset="0"/>
                <a:cs typeface="Cambria" panose="02040503050406030204" pitchFamily="18" charset="0"/>
              </a:rPr>
              <a:t>Algorithm: Long Short-Term Memory networks with Attention layers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A9C6E-734E-E30D-05AE-0B53B7AF1CB0}"/>
            </a:ext>
          </a:extLst>
        </p:cNvPr>
        <p:cNvGrpSpPr/>
        <p:nvPr/>
      </p:nvGrpSpPr>
      <p:grpSpPr>
        <a:xfrm>
          <a:off x="0" y="0"/>
          <a:ext cx="0" cy="0"/>
          <a:chOff x="0" y="0"/>
          <a:chExt cx="0" cy="0"/>
        </a:xfrm>
      </p:grpSpPr>
      <p:sp>
        <p:nvSpPr>
          <p:cNvPr id="17410" name="Title 1">
            <a:extLst>
              <a:ext uri="{FF2B5EF4-FFF2-40B4-BE49-F238E27FC236}">
                <a16:creationId xmlns:a16="http://schemas.microsoft.com/office/drawing/2014/main" id="{C548FC05-CED6-F864-A523-C2BBEAD2796C}"/>
              </a:ext>
            </a:extLst>
          </p:cNvPr>
          <p:cNvSpPr>
            <a:spLocks noGrp="1"/>
          </p:cNvSpPr>
          <p:nvPr>
            <p:ph type="title"/>
          </p:nvPr>
        </p:nvSpPr>
        <p:spPr/>
        <p:txBody>
          <a:bodyPr/>
          <a:lstStyle/>
          <a:p>
            <a:pPr eaLnBrk="1" hangingPunct="1"/>
            <a:r>
              <a:rPr lang="en-US" altLang="en-US" sz="2800" dirty="0">
                <a:latin typeface="Times New Roman" panose="02020603050405020304" pitchFamily="18" charset="0"/>
                <a:cs typeface="Times New Roman" panose="02020603050405020304" pitchFamily="18" charset="0"/>
              </a:rPr>
              <a:t>4. </a:t>
            </a:r>
            <a:r>
              <a:rPr lang="en-US" altLang="en-US" sz="2800" b="1" dirty="0">
                <a:latin typeface="Times New Roman" panose="02020603050405020304" pitchFamily="18" charset="0"/>
                <a:cs typeface="Times New Roman" panose="02020603050405020304" pitchFamily="18" charset="0"/>
              </a:rPr>
              <a:t>Hospital Resource Allocation</a:t>
            </a:r>
          </a:p>
        </p:txBody>
      </p:sp>
      <p:sp>
        <p:nvSpPr>
          <p:cNvPr id="4" name="Footer Placeholder 3">
            <a:extLst>
              <a:ext uri="{FF2B5EF4-FFF2-40B4-BE49-F238E27FC236}">
                <a16:creationId xmlns:a16="http://schemas.microsoft.com/office/drawing/2014/main" id="{5E9FB43B-EC5C-D7F0-B0C4-6519EF4E1BBB}"/>
              </a:ext>
            </a:extLst>
          </p:cNvPr>
          <p:cNvSpPr>
            <a:spLocks noGrp="1"/>
          </p:cNvSpPr>
          <p:nvPr>
            <p:ph type="ftr" sz="quarter" idx="10"/>
          </p:nvPr>
        </p:nvSpPr>
        <p:spPr>
          <a:xfrm>
            <a:off x="274638" y="6176963"/>
            <a:ext cx="7878762" cy="544512"/>
          </a:xfrm>
        </p:spPr>
        <p:txBody>
          <a:bodyPr/>
          <a:lstStyle/>
          <a:p>
            <a:pPr>
              <a:defRPr/>
            </a:pPr>
            <a:r>
              <a:rPr lang="en-US" dirty="0">
                <a:latin typeface="Times New Roman" panose="02020603050405020304" pitchFamily="18" charset="0"/>
                <a:cs typeface="Times New Roman" panose="02020603050405020304" pitchFamily="18" charset="0"/>
              </a:rPr>
              <a:t>Dept of CSE,GAT                                                                                                    2024-25                                                                                                                                                                        </a:t>
            </a:r>
            <a:endParaRPr lang="en-IN" dirty="0">
              <a:latin typeface="Times New Roman" panose="02020603050405020304" pitchFamily="18" charset="0"/>
              <a:cs typeface="Times New Roman" panose="02020603050405020304" pitchFamily="18" charset="0"/>
            </a:endParaRPr>
          </a:p>
        </p:txBody>
      </p:sp>
      <p:sp>
        <p:nvSpPr>
          <p:cNvPr id="17412" name="Slide Number Placeholder 4">
            <a:extLst>
              <a:ext uri="{FF2B5EF4-FFF2-40B4-BE49-F238E27FC236}">
                <a16:creationId xmlns:a16="http://schemas.microsoft.com/office/drawing/2014/main" id="{2A61BEFB-A30B-1DEC-21DD-4BA82BCCC453}"/>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62304DF-CFAA-5D44-9041-C72576669EDB}" type="slidenum">
              <a:rPr lang="en-IN" altLang="en-US">
                <a:solidFill>
                  <a:srgbClr val="898989"/>
                </a:solidFill>
                <a:latin typeface="Times New Roman" panose="02020603050405020304" pitchFamily="18" charset="0"/>
                <a:cs typeface="Times New Roman" panose="02020603050405020304" pitchFamily="18" charset="0"/>
              </a:rPr>
              <a:pPr/>
              <a:t>16</a:t>
            </a:fld>
            <a:endParaRPr lang="en-IN" altLang="en-US">
              <a:solidFill>
                <a:srgbClr val="898989"/>
              </a:solidFill>
              <a:latin typeface="Times New Roman" panose="02020603050405020304" pitchFamily="18" charset="0"/>
              <a:cs typeface="Times New Roman" panose="02020603050405020304" pitchFamily="18" charset="0"/>
            </a:endParaRPr>
          </a:p>
        </p:txBody>
      </p:sp>
      <p:sp>
        <p:nvSpPr>
          <p:cNvPr id="17413" name="Content Placeholder 5">
            <a:extLst>
              <a:ext uri="{FF2B5EF4-FFF2-40B4-BE49-F238E27FC236}">
                <a16:creationId xmlns:a16="http://schemas.microsoft.com/office/drawing/2014/main" id="{E19ECCB9-76AE-594F-16BD-8BE4E067D236}"/>
              </a:ext>
            </a:extLst>
          </p:cNvPr>
          <p:cNvSpPr>
            <a:spLocks noGrp="1"/>
          </p:cNvSpPr>
          <p:nvPr>
            <p:ph idx="1"/>
          </p:nvPr>
        </p:nvSpPr>
        <p:spPr>
          <a:xfrm>
            <a:off x="838200" y="1354667"/>
            <a:ext cx="10515600" cy="4822296"/>
          </a:xfrm>
        </p:spPr>
        <p:txBody>
          <a:bodyPr/>
          <a:lstStyle/>
          <a:p>
            <a:pPr eaLnBrk="1" hangingPunct="1"/>
            <a:r>
              <a:rPr lang="en-US" altLang="en-US" dirty="0">
                <a:latin typeface="Cambria" panose="02040503050406030204" pitchFamily="18" charset="0"/>
                <a:ea typeface="Cambria" panose="02040503050406030204" pitchFamily="18" charset="0"/>
                <a:cs typeface="Cambria" panose="02040503050406030204" pitchFamily="18" charset="0"/>
              </a:rPr>
              <a:t>Algorithm: NSGA-II (Non-dominated Sorting Genetic Algorithm)</a:t>
            </a:r>
          </a:p>
          <a:p>
            <a:pPr eaLnBrk="1" hangingPunct="1"/>
            <a:r>
              <a:rPr lang="en-US" altLang="en-US" dirty="0">
                <a:latin typeface="Cambria" panose="02040503050406030204" pitchFamily="18" charset="0"/>
                <a:ea typeface="Cambria" panose="02040503050406030204" pitchFamily="18" charset="0"/>
                <a:cs typeface="Cambria" panose="02040503050406030204" pitchFamily="18" charset="0"/>
              </a:rPr>
              <a:t>5. </a:t>
            </a:r>
            <a:r>
              <a:rPr lang="en-US" altLang="en-US" b="1" dirty="0">
                <a:latin typeface="Cambria" panose="02040503050406030204" pitchFamily="18" charset="0"/>
                <a:ea typeface="Cambria" panose="02040503050406030204" pitchFamily="18" charset="0"/>
                <a:cs typeface="Cambria" panose="02040503050406030204" pitchFamily="18" charset="0"/>
              </a:rPr>
              <a:t>Overall System Integration</a:t>
            </a:r>
          </a:p>
          <a:p>
            <a:pPr eaLnBrk="1" hangingPunct="1"/>
            <a:r>
              <a:rPr lang="en-US" altLang="en-US" dirty="0">
                <a:latin typeface="Cambria" panose="02040503050406030204" pitchFamily="18" charset="0"/>
                <a:ea typeface="Cambria" panose="02040503050406030204" pitchFamily="18" charset="0"/>
                <a:cs typeface="Cambria" panose="02040503050406030204" pitchFamily="18" charset="0"/>
              </a:rPr>
              <a:t>Algorithm: Stacked Ensemble with Meta-Learner</a:t>
            </a:r>
          </a:p>
          <a:p>
            <a:pPr eaLnBrk="1" hangingPunct="1"/>
            <a:r>
              <a:rPr lang="en-US" altLang="en-US" dirty="0">
                <a:latin typeface="Cambria" panose="02040503050406030204" pitchFamily="18" charset="0"/>
                <a:ea typeface="Cambria" panose="02040503050406030204" pitchFamily="18" charset="0"/>
                <a:cs typeface="Cambria" panose="02040503050406030204" pitchFamily="18" charset="0"/>
              </a:rPr>
              <a:t>Components:</a:t>
            </a:r>
          </a:p>
          <a:p>
            <a:pPr eaLnBrk="1" hangingPunct="1"/>
            <a:r>
              <a:rPr lang="en-US" altLang="en-US" dirty="0">
                <a:latin typeface="Cambria" panose="02040503050406030204" pitchFamily="18" charset="0"/>
                <a:ea typeface="Cambria" panose="02040503050406030204" pitchFamily="18" charset="0"/>
                <a:cs typeface="Cambria" panose="02040503050406030204" pitchFamily="18" charset="0"/>
              </a:rPr>
              <a:t>  Level 1: Specialized models for each subsystem</a:t>
            </a:r>
          </a:p>
          <a:p>
            <a:pPr eaLnBrk="1" hangingPunct="1"/>
            <a:r>
              <a:rPr lang="en-US" altLang="en-US" dirty="0">
                <a:latin typeface="Cambria" panose="02040503050406030204" pitchFamily="18" charset="0"/>
                <a:ea typeface="Cambria" panose="02040503050406030204" pitchFamily="18" charset="0"/>
                <a:cs typeface="Cambria" panose="02040503050406030204" pitchFamily="18" charset="0"/>
              </a:rPr>
              <a:t>  Level 2: Meta-learner combines predictions</a:t>
            </a:r>
          </a:p>
          <a:p>
            <a:pPr eaLnBrk="1" hangingPunct="1"/>
            <a:r>
              <a:rPr lang="en-US" altLang="en-US" dirty="0">
                <a:latin typeface="Cambria" panose="02040503050406030204" pitchFamily="18" charset="0"/>
                <a:ea typeface="Cambria" panose="02040503050406030204" pitchFamily="18" charset="0"/>
                <a:cs typeface="Cambria" panose="02040503050406030204" pitchFamily="18" charset="0"/>
              </a:rPr>
              <a:t>  Integration: Bayesian Networks for uncertainty handling</a:t>
            </a:r>
          </a:p>
          <a:p>
            <a:pPr eaLnBrk="1" hangingPunct="1"/>
            <a:endParaRPr lang="en-US" altLang="en-US" dirty="0">
              <a:latin typeface="Cambria" panose="02040503050406030204" pitchFamily="18" charset="0"/>
              <a:ea typeface="Cambria" panose="02040503050406030204" pitchFamily="18" charset="0"/>
              <a:cs typeface="Cambria" panose="02040503050406030204" pitchFamily="18" charset="0"/>
            </a:endParaRPr>
          </a:p>
        </p:txBody>
      </p:sp>
    </p:spTree>
    <p:extLst>
      <p:ext uri="{BB962C8B-B14F-4D97-AF65-F5344CB8AC3E}">
        <p14:creationId xmlns:p14="http://schemas.microsoft.com/office/powerpoint/2010/main" val="974851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8DEAC83E-6EDA-D122-7762-6C828862A7CE}"/>
              </a:ext>
            </a:extLst>
          </p:cNvPr>
          <p:cNvSpPr>
            <a:spLocks noGrp="1"/>
          </p:cNvSpPr>
          <p:nvPr>
            <p:ph type="title"/>
          </p:nvPr>
        </p:nvSpPr>
        <p:spPr/>
        <p:txBody>
          <a:bodyPr/>
          <a:lstStyle/>
          <a:p>
            <a:pPr eaLnBrk="1" hangingPunct="1"/>
            <a:r>
              <a:rPr lang="en-US" altLang="en-US" sz="4000" b="1" dirty="0">
                <a:latin typeface="Times New Roman" panose="02020603050405020304" pitchFamily="18" charset="0"/>
                <a:cs typeface="Times New Roman" panose="02020603050405020304" pitchFamily="18" charset="0"/>
              </a:rPr>
              <a:t>References </a:t>
            </a:r>
          </a:p>
        </p:txBody>
      </p:sp>
      <p:sp>
        <p:nvSpPr>
          <p:cNvPr id="3" name="Content Placeholder 2">
            <a:extLst>
              <a:ext uri="{FF2B5EF4-FFF2-40B4-BE49-F238E27FC236}">
                <a16:creationId xmlns:a16="http://schemas.microsoft.com/office/drawing/2014/main" id="{B7E31FDF-5706-3075-1CFF-A597420BAC90}"/>
              </a:ext>
            </a:extLst>
          </p:cNvPr>
          <p:cNvSpPr>
            <a:spLocks noGrp="1"/>
          </p:cNvSpPr>
          <p:nvPr>
            <p:ph idx="1"/>
          </p:nvPr>
        </p:nvSpPr>
        <p:spPr/>
        <p:txBody>
          <a:bodyPr/>
          <a:lstStyle/>
          <a:p>
            <a:pPr eaLnBrk="1" hangingPunct="1">
              <a:defRPr/>
            </a:pPr>
            <a:endParaRPr lang="en-US" sz="18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A495FEF9-B3F1-C8CB-16B6-C3C7270C99D4}"/>
              </a:ext>
            </a:extLst>
          </p:cNvPr>
          <p:cNvSpPr>
            <a:spLocks noGrp="1"/>
          </p:cNvSpPr>
          <p:nvPr>
            <p:ph type="ftr" sz="quarter" idx="10"/>
          </p:nvPr>
        </p:nvSpPr>
        <p:spPr>
          <a:xfrm>
            <a:off x="223838" y="6003925"/>
            <a:ext cx="7929562" cy="717550"/>
          </a:xfrm>
        </p:spPr>
        <p:txBody>
          <a:bodyPr/>
          <a:lstStyle/>
          <a:p>
            <a:pPr>
              <a:defRPr/>
            </a:pPr>
            <a:r>
              <a:rPr lang="en-US">
                <a:latin typeface="Times New Roman" panose="02020603050405020304" pitchFamily="18" charset="0"/>
                <a:cs typeface="Times New Roman" panose="02020603050405020304" pitchFamily="18" charset="0"/>
              </a:rPr>
              <a:t>Dept of CSE,GAT                                                                                                    2024-25                                                                                                                                                                        </a:t>
            </a:r>
            <a:endParaRPr lang="en-IN" dirty="0">
              <a:latin typeface="Times New Roman" panose="02020603050405020304" pitchFamily="18" charset="0"/>
              <a:cs typeface="Times New Roman" panose="02020603050405020304" pitchFamily="18" charset="0"/>
            </a:endParaRPr>
          </a:p>
        </p:txBody>
      </p:sp>
      <p:sp>
        <p:nvSpPr>
          <p:cNvPr id="18437" name="Slide Number Placeholder 4">
            <a:extLst>
              <a:ext uri="{FF2B5EF4-FFF2-40B4-BE49-F238E27FC236}">
                <a16:creationId xmlns:a16="http://schemas.microsoft.com/office/drawing/2014/main" id="{F15B2F62-91E8-DCAD-D988-E4DE98429E1E}"/>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F8DEE60-47FA-C147-B94C-647A44027AA2}" type="slidenum">
              <a:rPr lang="en-IN" altLang="en-US">
                <a:solidFill>
                  <a:srgbClr val="898989"/>
                </a:solidFill>
                <a:latin typeface="Times New Roman" panose="02020603050405020304" pitchFamily="18" charset="0"/>
                <a:cs typeface="Times New Roman" panose="02020603050405020304" pitchFamily="18" charset="0"/>
              </a:rPr>
              <a:pPr/>
              <a:t>17</a:t>
            </a:fld>
            <a:endParaRPr lang="en-IN" altLang="en-US">
              <a:solidFill>
                <a:srgbClr val="898989"/>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a:extLst>
              <a:ext uri="{FF2B5EF4-FFF2-40B4-BE49-F238E27FC236}">
                <a16:creationId xmlns:a16="http://schemas.microsoft.com/office/drawing/2014/main" id="{799140C7-5902-2E44-E1E7-C4A1F56DA0F6}"/>
              </a:ext>
            </a:extLst>
          </p:cNvPr>
          <p:cNvSpPr>
            <a:spLocks noGrp="1"/>
          </p:cNvSpPr>
          <p:nvPr>
            <p:ph idx="1"/>
          </p:nvPr>
        </p:nvSpPr>
        <p:spPr>
          <a:xfrm>
            <a:off x="838200" y="395288"/>
            <a:ext cx="10515600" cy="5781675"/>
          </a:xfrm>
        </p:spPr>
        <p:txBody>
          <a:bodyPr/>
          <a:lstStyle/>
          <a:p>
            <a:pPr marL="0" indent="0" algn="ctr" eaLnBrk="1" hangingPunct="1">
              <a:buFont typeface="Arial" panose="020B0604020202020204" pitchFamily="34" charset="0"/>
              <a:buNone/>
            </a:pPr>
            <a:endParaRPr lang="en-IN" altLang="en-US" sz="7200">
              <a:latin typeface="Times New Roman" panose="02020603050405020304" pitchFamily="18" charset="0"/>
              <a:cs typeface="Times New Roman" panose="02020603050405020304" pitchFamily="18" charset="0"/>
            </a:endParaRPr>
          </a:p>
          <a:p>
            <a:pPr marL="0" indent="0" algn="ctr" eaLnBrk="1" hangingPunct="1">
              <a:buFont typeface="Arial" panose="020B0604020202020204" pitchFamily="34" charset="0"/>
              <a:buNone/>
            </a:pPr>
            <a:endParaRPr lang="en-IN" altLang="en-US" sz="7200">
              <a:latin typeface="Times New Roman" panose="02020603050405020304" pitchFamily="18" charset="0"/>
              <a:cs typeface="Times New Roman" panose="02020603050405020304" pitchFamily="18" charset="0"/>
            </a:endParaRPr>
          </a:p>
          <a:p>
            <a:pPr marL="0" indent="0" algn="ctr" eaLnBrk="1" hangingPunct="1">
              <a:buFont typeface="Arial" panose="020B0604020202020204" pitchFamily="34" charset="0"/>
              <a:buNone/>
            </a:pPr>
            <a:r>
              <a:rPr lang="en-IN" altLang="en-US" sz="7200">
                <a:latin typeface="Times New Roman" panose="02020603050405020304" pitchFamily="18" charset="0"/>
                <a:cs typeface="Times New Roman" panose="02020603050405020304" pitchFamily="18" charset="0"/>
              </a:rPr>
              <a:t>Thank You</a:t>
            </a:r>
          </a:p>
        </p:txBody>
      </p:sp>
      <p:sp>
        <p:nvSpPr>
          <p:cNvPr id="19459" name="Slide Number Placeholder 7">
            <a:extLst>
              <a:ext uri="{FF2B5EF4-FFF2-40B4-BE49-F238E27FC236}">
                <a16:creationId xmlns:a16="http://schemas.microsoft.com/office/drawing/2014/main" id="{163928DD-3A86-D56D-26CD-83939C6952A3}"/>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46818B4B-7958-624C-9A40-7FCFBC0E2373}" type="slidenum">
              <a:rPr lang="en-IN" altLang="en-US" sz="1200">
                <a:solidFill>
                  <a:srgbClr val="898989"/>
                </a:solidFill>
                <a:latin typeface="Times New Roman" panose="02020603050405020304" pitchFamily="18" charset="0"/>
                <a:cs typeface="Times New Roman" panose="02020603050405020304" pitchFamily="18" charset="0"/>
              </a:rPr>
              <a:pPr>
                <a:lnSpc>
                  <a:spcPct val="100000"/>
                </a:lnSpc>
                <a:spcBef>
                  <a:spcPct val="0"/>
                </a:spcBef>
                <a:buFontTx/>
                <a:buNone/>
              </a:pPr>
              <a:t>18</a:t>
            </a:fld>
            <a:endParaRPr lang="en-IN" altLang="en-US" sz="1200">
              <a:solidFill>
                <a:srgbClr val="898989"/>
              </a:solidFill>
              <a:latin typeface="Times New Roman" panose="02020603050405020304" pitchFamily="18" charset="0"/>
              <a:cs typeface="Times New Roman" panose="02020603050405020304" pitchFamily="18" charset="0"/>
            </a:endParaRPr>
          </a:p>
        </p:txBody>
      </p:sp>
      <p:sp>
        <p:nvSpPr>
          <p:cNvPr id="9" name="Footer Placeholder 8">
            <a:extLst>
              <a:ext uri="{FF2B5EF4-FFF2-40B4-BE49-F238E27FC236}">
                <a16:creationId xmlns:a16="http://schemas.microsoft.com/office/drawing/2014/main" id="{01441ACA-5084-4374-A043-163C2DB5ECBA}"/>
              </a:ext>
            </a:extLst>
          </p:cNvPr>
          <p:cNvSpPr>
            <a:spLocks noGrp="1"/>
          </p:cNvSpPr>
          <p:nvPr>
            <p:ph type="ftr" sz="quarter" idx="10"/>
          </p:nvPr>
        </p:nvSpPr>
        <p:spPr/>
        <p:txBody>
          <a:bodyPr/>
          <a:lstStyle/>
          <a:p>
            <a:pPr>
              <a:defRPr/>
            </a:pPr>
            <a:r>
              <a:rPr lang="en-US">
                <a:latin typeface="Times New Roman" panose="02020603050405020304" pitchFamily="18" charset="0"/>
                <a:cs typeface="Times New Roman" panose="02020603050405020304" pitchFamily="18" charset="0"/>
              </a:rPr>
              <a:t>Dept of CSE,GAT                                                                                                    2024-25                                                                                                                                                                        </a:t>
            </a:r>
            <a:endParaRPr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a:extLst>
              <a:ext uri="{FF2B5EF4-FFF2-40B4-BE49-F238E27FC236}">
                <a16:creationId xmlns:a16="http://schemas.microsoft.com/office/drawing/2014/main" id="{3BF0569B-A18F-BD1E-47C0-2577828DBAD9}"/>
              </a:ext>
            </a:extLst>
          </p:cNvPr>
          <p:cNvSpPr>
            <a:spLocks noGrp="1"/>
          </p:cNvSpPr>
          <p:nvPr>
            <p:ph idx="1"/>
          </p:nvPr>
        </p:nvSpPr>
        <p:spPr/>
        <p:txBody>
          <a:bodyPr/>
          <a:lstStyle/>
          <a:p>
            <a:pPr marL="0" indent="0" algn="ctr" eaLnBrk="1" hangingPunct="1">
              <a:buFont typeface="Arial" panose="020B0604020202020204" pitchFamily="34" charset="0"/>
              <a:buNone/>
            </a:pPr>
            <a:endParaRPr lang="en-IN" altLang="en-US">
              <a:latin typeface="Times New Roman" panose="02020603050405020304" pitchFamily="18" charset="0"/>
              <a:cs typeface="Times New Roman" panose="02020603050405020304" pitchFamily="18" charset="0"/>
            </a:endParaRPr>
          </a:p>
          <a:p>
            <a:pPr marL="0" indent="0" algn="ctr" eaLnBrk="1" hangingPunct="1">
              <a:buFont typeface="Arial" panose="020B0604020202020204" pitchFamily="34" charset="0"/>
              <a:buNone/>
            </a:pPr>
            <a:endParaRPr lang="en-IN" altLang="en-US">
              <a:latin typeface="Times New Roman" panose="02020603050405020304" pitchFamily="18" charset="0"/>
              <a:cs typeface="Times New Roman" panose="02020603050405020304" pitchFamily="18" charset="0"/>
            </a:endParaRPr>
          </a:p>
          <a:p>
            <a:pPr marL="0" indent="0" algn="ctr" eaLnBrk="1" hangingPunct="1">
              <a:buFont typeface="Arial" panose="020B0604020202020204" pitchFamily="34" charset="0"/>
              <a:buNone/>
            </a:pPr>
            <a:r>
              <a:rPr lang="en-IN" altLang="en-US" sz="7200">
                <a:latin typeface="Times New Roman" panose="02020603050405020304" pitchFamily="18" charset="0"/>
                <a:cs typeface="Times New Roman" panose="02020603050405020304" pitchFamily="18" charset="0"/>
              </a:rPr>
              <a:t>Q &amp; A</a:t>
            </a:r>
          </a:p>
        </p:txBody>
      </p:sp>
      <p:sp>
        <p:nvSpPr>
          <p:cNvPr id="20483" name="Slide Number Placeholder 7">
            <a:extLst>
              <a:ext uri="{FF2B5EF4-FFF2-40B4-BE49-F238E27FC236}">
                <a16:creationId xmlns:a16="http://schemas.microsoft.com/office/drawing/2014/main" id="{A8A86F63-7626-4100-DEE5-BB1B463BC8FE}"/>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332FBAFD-C816-1F49-A2A0-C1D382CD4A23}" type="slidenum">
              <a:rPr lang="en-IN" altLang="en-US" sz="1200">
                <a:solidFill>
                  <a:srgbClr val="898989"/>
                </a:solidFill>
              </a:rPr>
              <a:pPr>
                <a:lnSpc>
                  <a:spcPct val="100000"/>
                </a:lnSpc>
                <a:spcBef>
                  <a:spcPct val="0"/>
                </a:spcBef>
                <a:buFontTx/>
                <a:buNone/>
              </a:pPr>
              <a:t>19</a:t>
            </a:fld>
            <a:endParaRPr lang="en-IN" altLang="en-US" sz="1200">
              <a:solidFill>
                <a:srgbClr val="898989"/>
              </a:solidFill>
            </a:endParaRPr>
          </a:p>
        </p:txBody>
      </p:sp>
      <p:sp>
        <p:nvSpPr>
          <p:cNvPr id="9" name="Footer Placeholder 8">
            <a:extLst>
              <a:ext uri="{FF2B5EF4-FFF2-40B4-BE49-F238E27FC236}">
                <a16:creationId xmlns:a16="http://schemas.microsoft.com/office/drawing/2014/main" id="{2491953D-2EF8-42C2-91CC-87F643E86E65}"/>
              </a:ext>
            </a:extLst>
          </p:cNvPr>
          <p:cNvSpPr>
            <a:spLocks noGrp="1"/>
          </p:cNvSpPr>
          <p:nvPr>
            <p:ph type="ftr" sz="quarter" idx="10"/>
          </p:nvPr>
        </p:nvSpPr>
        <p:spPr>
          <a:xfrm>
            <a:off x="131763" y="6269038"/>
            <a:ext cx="8021637" cy="452437"/>
          </a:xfrm>
        </p:spPr>
        <p:txBody>
          <a:bodyPr/>
          <a:lstStyle/>
          <a:p>
            <a:pPr>
              <a:defRPr/>
            </a:pPr>
            <a:r>
              <a:rPr lang="en-US" dirty="0"/>
              <a:t>Dept of CSE,GAT                                                                                                    2024-25                                                                                                                                                                        </a:t>
            </a:r>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2206</TotalTime>
  <Words>1725</Words>
  <Application>Microsoft Office PowerPoint</Application>
  <PresentationFormat>Widescreen</PresentationFormat>
  <Paragraphs>257</Paragraphs>
  <Slides>19</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Calibri Light</vt:lpstr>
      <vt:lpstr>Cambria</vt:lpstr>
      <vt:lpstr>Times New Roman</vt:lpstr>
      <vt:lpstr>Office Theme</vt:lpstr>
      <vt:lpstr>GLOBAL ACADEMY OF TECHNOLOGY DEPARTMENT OF COMPUTER SCIENCE AND ENGINEERING</vt:lpstr>
      <vt:lpstr>PowerPoint Presentation</vt:lpstr>
      <vt:lpstr>Introduction</vt:lpstr>
      <vt:lpstr>Introduction</vt:lpstr>
      <vt:lpstr>Problem Statement</vt:lpstr>
      <vt:lpstr>Objectives </vt:lpstr>
      <vt:lpstr>Literature Survey</vt:lpstr>
      <vt:lpstr>Literature Survey</vt:lpstr>
      <vt:lpstr>Literature Survey</vt:lpstr>
      <vt:lpstr>Literature Survey</vt:lpstr>
      <vt:lpstr>Literature Survey</vt:lpstr>
      <vt:lpstr>Architecture</vt:lpstr>
      <vt:lpstr>Sample Architecture </vt:lpstr>
      <vt:lpstr>Data Flow Diagram</vt:lpstr>
      <vt:lpstr>Algorithm designed for the Complete work </vt:lpstr>
      <vt:lpstr>4. Hospital Resource Allocation</vt:lpstr>
      <vt:lpstr>References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ACADEMY OF TECHNOLOGY DEPARTMENT OF COMPUTER SCIENCE AND ENGINEERING</dc:title>
  <dc:creator>admin</dc:creator>
  <cp:lastModifiedBy>prabhu gouda</cp:lastModifiedBy>
  <cp:revision>72</cp:revision>
  <dcterms:created xsi:type="dcterms:W3CDTF">2018-01-23T09:52:46Z</dcterms:created>
  <dcterms:modified xsi:type="dcterms:W3CDTF">2025-07-03T02:52:51Z</dcterms:modified>
</cp:coreProperties>
</file>